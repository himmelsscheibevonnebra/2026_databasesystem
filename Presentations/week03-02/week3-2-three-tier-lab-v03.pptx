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9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aadb34078f41e4" /><Relationship Type="http://schemas.openxmlformats.org/officeDocument/2006/relationships/extended-properties" Target="/docProps/app.xml" Id="Rd56fb0fe1b814b28" /><Relationship Type="http://schemas.openxmlformats.org/officeDocument/2006/relationships/officeDocument" Target="/ppt/presentation.xml" Id="Re5e01113de654b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3078acef1b4395"/>
    <p:sldMasterId xmlns:r="http://schemas.openxmlformats.org/officeDocument/2006/relationships" id="2147483650" r:id="R16cc27b21cb8478e"/>
    <p:sldMasterId xmlns:r="http://schemas.openxmlformats.org/officeDocument/2006/relationships" id="2147483652" r:id="R4e3a316211f04f6e"/>
    <p:sldMasterId xmlns:r="http://schemas.openxmlformats.org/officeDocument/2006/relationships" id="2147483655" r:id="R0e79659cfde8481e"/>
    <p:sldMasterId xmlns:r="http://schemas.openxmlformats.org/officeDocument/2006/relationships" id="2147483658" r:id="Rad45493a2a96417b"/>
    <p:sldMasterId xmlns:r="http://schemas.openxmlformats.org/officeDocument/2006/relationships" id="2147483661" r:id="R1929d4c4faba4762"/>
    <p:sldMasterId xmlns:r="http://schemas.openxmlformats.org/officeDocument/2006/relationships" id="2147483664" r:id="R23d2c71c562e4a83"/>
  </p:sldMasterIdLst>
  <p:notesMasterIdLst>
    <p:notesMasterId xmlns:r="http://schemas.openxmlformats.org/officeDocument/2006/relationships" r:id="R13cdc820c6f349a5"/>
  </p:notesMasterIdLst>
  <p:sldIdLst>
    <p:sldId xmlns:r="http://schemas.openxmlformats.org/officeDocument/2006/relationships" id="256" r:id="R03aebccc697d4bb9"/>
    <p:sldId xmlns:r="http://schemas.openxmlformats.org/officeDocument/2006/relationships" id="257" r:id="R8661181c76d84d9d"/>
    <p:sldId xmlns:r="http://schemas.openxmlformats.org/officeDocument/2006/relationships" id="258" r:id="R883ac8d9ea1c4b58"/>
    <p:sldId xmlns:r="http://schemas.openxmlformats.org/officeDocument/2006/relationships" id="259" r:id="Re92fdff9246b4233"/>
    <p:sldId xmlns:r="http://schemas.openxmlformats.org/officeDocument/2006/relationships" id="260" r:id="R902cee11368345b1"/>
    <p:sldId xmlns:r="http://schemas.openxmlformats.org/officeDocument/2006/relationships" id="261" r:id="R3f942d36ab7040a8"/>
    <p:sldId xmlns:r="http://schemas.openxmlformats.org/officeDocument/2006/relationships" id="262" r:id="R107d19e5bdff4421"/>
    <p:sldId xmlns:r="http://schemas.openxmlformats.org/officeDocument/2006/relationships" id="263" r:id="Rdb5c6000f4934e6a"/>
    <p:sldId xmlns:r="http://schemas.openxmlformats.org/officeDocument/2006/relationships" id="264" r:id="R30e7d12abca64240"/>
    <p:sldId xmlns:r="http://schemas.openxmlformats.org/officeDocument/2006/relationships" id="265" r:id="R09a640668f2f4929"/>
    <p:sldId xmlns:r="http://schemas.openxmlformats.org/officeDocument/2006/relationships" id="266" r:id="R64107ea246714703"/>
    <p:sldId xmlns:r="http://schemas.openxmlformats.org/officeDocument/2006/relationships" id="267" r:id="Rf0d6a41f4f1f49cd"/>
    <p:sldId xmlns:r="http://schemas.openxmlformats.org/officeDocument/2006/relationships" id="268" r:id="R0f754d20dd3d4442"/>
    <p:sldId xmlns:r="http://schemas.openxmlformats.org/officeDocument/2006/relationships" id="269" r:id="Rd29fd144b0a64b83"/>
    <p:sldId xmlns:r="http://schemas.openxmlformats.org/officeDocument/2006/relationships" id="270" r:id="R7ecd149f3bf14e97"/>
    <p:sldId xmlns:r="http://schemas.openxmlformats.org/officeDocument/2006/relationships" id="271" r:id="R183740712f74458f"/>
    <p:sldId xmlns:r="http://schemas.openxmlformats.org/officeDocument/2006/relationships" id="272" r:id="Rc7a2d96aee00454b"/>
    <p:sldId xmlns:r="http://schemas.openxmlformats.org/officeDocument/2006/relationships" id="273" r:id="R6b407e51b7654cb7"/>
    <p:sldId xmlns:r="http://schemas.openxmlformats.org/officeDocument/2006/relationships" id="274" r:id="Ra5b76b0dd2fc4a91"/>
    <p:sldId xmlns:r="http://schemas.openxmlformats.org/officeDocument/2006/relationships" id="275" r:id="R855a5464c2b640ae"/>
    <p:sldId xmlns:r="http://schemas.openxmlformats.org/officeDocument/2006/relationships" id="276" r:id="Ref88a24e50094c77"/>
    <p:sldId xmlns:r="http://schemas.openxmlformats.org/officeDocument/2006/relationships" id="277" r:id="R7ec3bfc24c2e43db"/>
    <p:sldId xmlns:r="http://schemas.openxmlformats.org/officeDocument/2006/relationships" id="278" r:id="Rb0b6617fdd6c4cac"/>
    <p:sldId xmlns:r="http://schemas.openxmlformats.org/officeDocument/2006/relationships" id="279" r:id="R9a3c2b1fb37a4e7c"/>
    <p:sldId xmlns:r="http://schemas.openxmlformats.org/officeDocument/2006/relationships" id="280" r:id="Rf70a60633c8d4e9c"/>
    <p:sldId xmlns:r="http://schemas.openxmlformats.org/officeDocument/2006/relationships" id="281" r:id="R0f7a8736f18d4b32"/>
    <p:sldId xmlns:r="http://schemas.openxmlformats.org/officeDocument/2006/relationships" id="282" r:id="R2022aea713fb42c3"/>
    <p:sldId xmlns:r="http://schemas.openxmlformats.org/officeDocument/2006/relationships" id="283" r:id="Rafe058ce9b004a04"/>
    <p:sldId xmlns:r="http://schemas.openxmlformats.org/officeDocument/2006/relationships" id="284" r:id="R1ca2615e79524217"/>
    <p:sldId xmlns:r="http://schemas.openxmlformats.org/officeDocument/2006/relationships" id="285" r:id="R216b1815705846e3"/>
  </p:sldIdLst>
  <p:sldSz cx="10080000" cy="567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3879f4286441ec" /><Relationship Type="http://schemas.openxmlformats.org/officeDocument/2006/relationships/slideMaster" Target="/ppt/slideMasters/slideMaster1.xml" Id="R803078acef1b4395" /><Relationship Type="http://schemas.openxmlformats.org/officeDocument/2006/relationships/slideMaster" Target="/ppt/slideMasters/slideMaster2.xml" Id="R16cc27b21cb8478e" /><Relationship Type="http://schemas.openxmlformats.org/officeDocument/2006/relationships/slideMaster" Target="/ppt/slideMasters/slideMaster3.xml" Id="R4e3a316211f04f6e" /><Relationship Type="http://schemas.openxmlformats.org/officeDocument/2006/relationships/slideMaster" Target="/ppt/slideMasters/slideMaster4.xml" Id="R0e79659cfde8481e" /><Relationship Type="http://schemas.openxmlformats.org/officeDocument/2006/relationships/slideMaster" Target="/ppt/slideMasters/slideMaster5.xml" Id="Rad45493a2a96417b" /><Relationship Type="http://schemas.openxmlformats.org/officeDocument/2006/relationships/slideMaster" Target="/ppt/slideMasters/slideMaster6.xml" Id="R1929d4c4faba4762" /><Relationship Type="http://schemas.openxmlformats.org/officeDocument/2006/relationships/slideMaster" Target="/ppt/slideMasters/slideMaster7.xml" Id="R23d2c71c562e4a83" /><Relationship Type="http://schemas.openxmlformats.org/officeDocument/2006/relationships/notesMaster" Target="/ppt/notesMasters/notesMaster1.xml" Id="R13cdc820c6f349a5" /><Relationship Type="http://schemas.openxmlformats.org/officeDocument/2006/relationships/presProps" Target="/ppt/presProps.xml" Id="R40f0a0843bd04d23" /><Relationship Type="http://schemas.openxmlformats.org/officeDocument/2006/relationships/tableStyles" Target="/ppt/tableStyles.xml" Id="R7fa64228873f4c75" /><Relationship Type="http://schemas.openxmlformats.org/officeDocument/2006/relationships/slide" Target="/ppt/slides/slide1.xml" Id="R03aebccc697d4bb9" /><Relationship Type="http://schemas.openxmlformats.org/officeDocument/2006/relationships/slide" Target="/ppt/slides/slide2.xml" Id="R8661181c76d84d9d" /><Relationship Type="http://schemas.openxmlformats.org/officeDocument/2006/relationships/slide" Target="/ppt/slides/slide3.xml" Id="R883ac8d9ea1c4b58" /><Relationship Type="http://schemas.openxmlformats.org/officeDocument/2006/relationships/slide" Target="/ppt/slides/slide4.xml" Id="Re92fdff9246b4233" /><Relationship Type="http://schemas.openxmlformats.org/officeDocument/2006/relationships/slide" Target="/ppt/slides/slide5.xml" Id="R902cee11368345b1" /><Relationship Type="http://schemas.openxmlformats.org/officeDocument/2006/relationships/slide" Target="/ppt/slides/slide6.xml" Id="R3f942d36ab7040a8" /><Relationship Type="http://schemas.openxmlformats.org/officeDocument/2006/relationships/slide" Target="/ppt/slides/slide7.xml" Id="R107d19e5bdff4421" /><Relationship Type="http://schemas.openxmlformats.org/officeDocument/2006/relationships/slide" Target="/ppt/slides/slide8.xml" Id="Rdb5c6000f4934e6a" /><Relationship Type="http://schemas.openxmlformats.org/officeDocument/2006/relationships/slide" Target="/ppt/slides/slide9.xml" Id="R30e7d12abca64240" /><Relationship Type="http://schemas.openxmlformats.org/officeDocument/2006/relationships/slide" Target="/ppt/slides/slide10.xml" Id="R09a640668f2f4929" /><Relationship Type="http://schemas.openxmlformats.org/officeDocument/2006/relationships/slide" Target="/ppt/slides/slide11.xml" Id="R64107ea246714703" /><Relationship Type="http://schemas.openxmlformats.org/officeDocument/2006/relationships/slide" Target="/ppt/slides/slide12.xml" Id="Rf0d6a41f4f1f49cd" /><Relationship Type="http://schemas.openxmlformats.org/officeDocument/2006/relationships/slide" Target="/ppt/slides/slide13.xml" Id="R0f754d20dd3d4442" /><Relationship Type="http://schemas.openxmlformats.org/officeDocument/2006/relationships/slide" Target="/ppt/slides/slide14.xml" Id="Rd29fd144b0a64b83" /><Relationship Type="http://schemas.openxmlformats.org/officeDocument/2006/relationships/slide" Target="/ppt/slides/slide15.xml" Id="R7ecd149f3bf14e97" /><Relationship Type="http://schemas.openxmlformats.org/officeDocument/2006/relationships/slide" Target="/ppt/slides/slide16.xml" Id="R183740712f74458f" /><Relationship Type="http://schemas.openxmlformats.org/officeDocument/2006/relationships/slide" Target="/ppt/slides/slide17.xml" Id="Rc7a2d96aee00454b" /><Relationship Type="http://schemas.openxmlformats.org/officeDocument/2006/relationships/slide" Target="/ppt/slides/slide18.xml" Id="R6b407e51b7654cb7" /><Relationship Type="http://schemas.openxmlformats.org/officeDocument/2006/relationships/slide" Target="/ppt/slides/slide19.xml" Id="Ra5b76b0dd2fc4a91" /><Relationship Type="http://schemas.openxmlformats.org/officeDocument/2006/relationships/slide" Target="/ppt/slides/slide20.xml" Id="R855a5464c2b640ae" /><Relationship Type="http://schemas.openxmlformats.org/officeDocument/2006/relationships/slide" Target="/ppt/slides/slide21.xml" Id="Ref88a24e50094c77" /><Relationship Type="http://schemas.openxmlformats.org/officeDocument/2006/relationships/slide" Target="/ppt/slides/slide22.xml" Id="R7ec3bfc24c2e43db" /><Relationship Type="http://schemas.openxmlformats.org/officeDocument/2006/relationships/slide" Target="/ppt/slides/slide23.xml" Id="Rb0b6617fdd6c4cac" /><Relationship Type="http://schemas.openxmlformats.org/officeDocument/2006/relationships/slide" Target="/ppt/slides/slide24.xml" Id="R9a3c2b1fb37a4e7c" /><Relationship Type="http://schemas.openxmlformats.org/officeDocument/2006/relationships/slide" Target="/ppt/slides/slide25.xml" Id="Rf70a60633c8d4e9c" /><Relationship Type="http://schemas.openxmlformats.org/officeDocument/2006/relationships/slide" Target="/ppt/slides/slide26.xml" Id="R0f7a8736f18d4b32" /><Relationship Type="http://schemas.openxmlformats.org/officeDocument/2006/relationships/slide" Target="/ppt/slides/slide27.xml" Id="R2022aea713fb42c3" /><Relationship Type="http://schemas.openxmlformats.org/officeDocument/2006/relationships/slide" Target="/ppt/slides/slide28.xml" Id="Rafe058ce9b004a04" /><Relationship Type="http://schemas.openxmlformats.org/officeDocument/2006/relationships/slide" Target="/ppt/slides/slide29.xml" Id="R1ca2615e79524217" /><Relationship Type="http://schemas.openxmlformats.org/officeDocument/2006/relationships/slide" Target="/ppt/slides/slide30.xml" Id="R216b1815705846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9.xml" Id="R33e31792b50b4f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9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69852466194283" /><Relationship Type="http://schemas.openxmlformats.org/officeDocument/2006/relationships/notesMaster" Target="/ppt/notesMasters/notesMaster1.xml" Id="Rf8c84d19fd4d40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f5458433794894" /><Relationship Type="http://schemas.openxmlformats.org/officeDocument/2006/relationships/notesMaster" Target="/ppt/notesMasters/notesMaster1.xml" Id="Rf23ab4a7abef4d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2e4457afc54ea5" /><Relationship Type="http://schemas.openxmlformats.org/officeDocument/2006/relationships/notesMaster" Target="/ppt/notesMasters/notesMaster1.xml" Id="R5f85c8aba65c4e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2674ed27e74607" /><Relationship Type="http://schemas.openxmlformats.org/officeDocument/2006/relationships/notesMaster" Target="/ppt/notesMasters/notesMaster1.xml" Id="R510fd1f336094f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6f475da2d846f4" /><Relationship Type="http://schemas.openxmlformats.org/officeDocument/2006/relationships/notesMaster" Target="/ppt/notesMasters/notesMaster1.xml" Id="R8029963cd54446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4392d55a8843fb" /><Relationship Type="http://schemas.openxmlformats.org/officeDocument/2006/relationships/notesMaster" Target="/ppt/notesMasters/notesMaster1.xml" Id="R39667500225541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055e3bf5ca413b" /><Relationship Type="http://schemas.openxmlformats.org/officeDocument/2006/relationships/notesMaster" Target="/ppt/notesMasters/notesMaster1.xml" Id="R1fc5bc0fb38641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df78f9a9524974" /><Relationship Type="http://schemas.openxmlformats.org/officeDocument/2006/relationships/notesMaster" Target="/ppt/notesMasters/notesMaster1.xml" Id="Rb967708323ff43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95d95b1fd340ac" /><Relationship Type="http://schemas.openxmlformats.org/officeDocument/2006/relationships/notesMaster" Target="/ppt/notesMasters/notesMaster1.xml" Id="Rba19b5afc65544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4c47725b6e4948" /><Relationship Type="http://schemas.openxmlformats.org/officeDocument/2006/relationships/notesMaster" Target="/ppt/notesMasters/notesMaster1.xml" Id="Re4d33db9040643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e7af8532044c88" /><Relationship Type="http://schemas.openxmlformats.org/officeDocument/2006/relationships/notesMaster" Target="/ppt/notesMasters/notesMaster1.xml" Id="R10ab0f58f7e04d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4fedc875474c54" /><Relationship Type="http://schemas.openxmlformats.org/officeDocument/2006/relationships/notesMaster" Target="/ppt/notesMasters/notesMaster1.xml" Id="R34e0c140c55943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7867ac2d7b4826" /><Relationship Type="http://schemas.openxmlformats.org/officeDocument/2006/relationships/notesMaster" Target="/ppt/notesMasters/notesMaster1.xml" Id="R7a33cd58d70e48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77a9e01536a4fe1" /><Relationship Type="http://schemas.openxmlformats.org/officeDocument/2006/relationships/notesMaster" Target="/ppt/notesMasters/notesMaster1.xml" Id="Rd9135a75463840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bd31e4fa014851" /><Relationship Type="http://schemas.openxmlformats.org/officeDocument/2006/relationships/notesMaster" Target="/ppt/notesMasters/notesMaster1.xml" Id="R9b4599da980143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b684d7b04e4c21" /><Relationship Type="http://schemas.openxmlformats.org/officeDocument/2006/relationships/notesMaster" Target="/ppt/notesMasters/notesMaster1.xml" Id="R107b9e4d962a40e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e5f290377346e0" /><Relationship Type="http://schemas.openxmlformats.org/officeDocument/2006/relationships/notesMaster" Target="/ppt/notesMasters/notesMaster1.xml" Id="R9843b8586814454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0d879525bb448cf" /><Relationship Type="http://schemas.openxmlformats.org/officeDocument/2006/relationships/notesMaster" Target="/ppt/notesMasters/notesMaster1.xml" Id="R0720c5eea28a451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7b8eed5261041f0" /><Relationship Type="http://schemas.openxmlformats.org/officeDocument/2006/relationships/notesMaster" Target="/ppt/notesMasters/notesMaster1.xml" Id="Re8af60838e5442f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dc48fb9e0dd4042" /><Relationship Type="http://schemas.openxmlformats.org/officeDocument/2006/relationships/notesMaster" Target="/ppt/notesMasters/notesMaster1.xml" Id="R8589970a118344f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8fc2c6fed94a62" /><Relationship Type="http://schemas.openxmlformats.org/officeDocument/2006/relationships/notesMaster" Target="/ppt/notesMasters/notesMaster1.xml" Id="Rc35ee0b1f946432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eeb16e030a94dfe" /><Relationship Type="http://schemas.openxmlformats.org/officeDocument/2006/relationships/notesMaster" Target="/ppt/notesMasters/notesMaster1.xml" Id="R4fb64aafbc084ef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bcb807fb2ba452d" /><Relationship Type="http://schemas.openxmlformats.org/officeDocument/2006/relationships/notesMaster" Target="/ppt/notesMasters/notesMaster1.xml" Id="R4b1f4e5331e14ce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86f9f5554184078" /><Relationship Type="http://schemas.openxmlformats.org/officeDocument/2006/relationships/notesMaster" Target="/ppt/notesMasters/notesMaster1.xml" Id="R170ee1c30c95415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3d380f7aa114c67" /><Relationship Type="http://schemas.openxmlformats.org/officeDocument/2006/relationships/notesMaster" Target="/ppt/notesMasters/notesMaster1.xml" Id="Re252b636cc47414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d8decc7ea354c82" /><Relationship Type="http://schemas.openxmlformats.org/officeDocument/2006/relationships/notesMaster" Target="/ppt/notesMasters/notesMaster1.xml" Id="R5aa8970c6ffa406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da5427f64924a99" /><Relationship Type="http://schemas.openxmlformats.org/officeDocument/2006/relationships/notesMaster" Target="/ppt/notesMasters/notesMaster1.xml" Id="Rbddc7fde85654e2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1659f9aa7b94ac3" /><Relationship Type="http://schemas.openxmlformats.org/officeDocument/2006/relationships/notesMaster" Target="/ppt/notesMasters/notesMaster1.xml" Id="R2348a50a3e9a4c9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540cbca9ba2486e" /><Relationship Type="http://schemas.openxmlformats.org/officeDocument/2006/relationships/notesMaster" Target="/ppt/notesMasters/notesMaster1.xml" Id="R7379acc60f9d469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b43ba0b558e4710" /><Relationship Type="http://schemas.openxmlformats.org/officeDocument/2006/relationships/notesMaster" Target="/ppt/notesMasters/notesMaster1.xml" Id="Rb0aec1ee15f54a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학생용 README.md와 WORKSHEET.md의 실행 순서 및 현재 예제 코드 기준. SQLite 내부 소스 분석은 별도 자료에서 진행합니다.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학생용 README.md와 WORKSHEET.md의 실행 순서 및 현재 예제 코드 기준. SQLite 내부 소스 분석은 별도 자료에서 진행합니다.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학생용 README.md와 WORKSHEET.md의 실행 순서 및 현재 예제 코드 기준. SQLite 내부 소스 분석은 별도 자료에서 진행합니다.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브라우저와 서버는 HTTP/JSON, 서버와 SQLite는 Python sqlite3 API로 연결합니다. 별도 DB 서버 프로세스나 물리적으로 분리된 세 서버를 사용하는 예제는 아닙니다. SQLite 엔진과 데이터 접근 모듈이 데이터 계층의 역할을 담당합니다.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ZIP 압축을 풀고 그 폴더에서 터미널을 엽니다. Python 배포판에 sqlite3 모듈이 있어야 합니다. index.html 파일을 직접 열지 않습니다. 종료는 Ctrl+C입니다.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조회는 이름 조건과 개별 학번 경로도 지원합니다. 실습 화면 또는 개발자 도구 Network 탭에서 요청을 관찰합니다.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초기 DB에서 한 번 등록한 결과입니다. 등록 후 자동 조회가 발생하지만 화면 아래에는 등록 요청과 응답을 유지합니다. 중복 등록은 HTTP 409입니다.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수정과 삭제는 PK를 WHERE 조건으로 사용합니다. SQL 변경 행 수 0을 애플리케이션에서 404로 변환합니다. 사용자에게 보이는 삭제 확인 창에서 작업을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server.py와 service.py는 모두 애플리케이션 계층에 속합니다. 파일 네 개와 논리적 계층 세 개를 혼동하지 않습니다. 상세 설명은 CODE_WALKTHROUGH.md에 실제 코드와 함께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등록 2001 / O'Brien / 컴퓨터공학 / 12를 한 번 따라갑니다. 응답 이후 목록 갱신은 별도의 GET 요청이라는 점을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함수 본문 발췌. initialize는 처음에 스키마와 샘플 데이터를 준비합니다. 서버 객체의 service 속성에 저장소를 받은 서비스 객체를 연결합니다. handler는 요청마다 self.server.service를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등록 이벤트의 앞부분 발췌. 이후 request와 list 호출, 닫는 괄호는 생략했습니다. 입력창의 type=number도 FormData에서 문자열입니다. request에 전달할 객체에서 Number로 변환하고 학과의 빈 문자열은 null로 변환합니다. 학번 input의 name=id와 form.get('id')를 연결해서 보여 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POST 호출의 줄바꿈만 조정했습니다. 등록 작업 자체의 응답에는 rows가 없으므로 list가 새 목록을 조회합니다. false는 화면 관찰창에 POST 기록을 남기는 옵션으로, DB 실행 옵션이 아닙니다. await가 요청 순서를 보장합니다.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생략 표시 외에는 원본 코드입니다. stringify와 response.json의 방향을 대비합니다. GET에는 본문이 없습니다. await는 Promise가 완료될 때까지 해당 비동기 함수의 다음 실행을 기다립니다. HTTP 409도 fetch의 정상적인 응답일 수 있어 response.ok 검사가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서로 떨어진 원본 위치를 연결한 발췌입니다. 추가 주석은 설명용입니다. BaseHTTPRequestHandler가 do_METHOD를 호출합니다. route 실패시 404를 반환한 후에 sid를 읽으므로 원본은 None에서 첨자를 읽지 않습니다. POST는 목록 경로, PATCH/DELETE는 개별 경로로 제한하는 검사도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앞 단계에서 Content-Type을 검사합니다. Content-Length만큼 바이트를 읽습니다. 전체 서비스 호출은 self.server.service.run(self.command, sid, body, query.get('name', [None])[0])입니다. JSON 객체는 dict, JSON 배열은 list이므로 서비스가 dict인지도 검사합니다.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함수 정의와 run 내부 호출을 함께 발췌했습니다. type(value) is int로 검사하면 bool도 배제합니다. Python bool은 int의 하위 타입이기 때문에 isinstance만 사용하면 True를 정수로 받아들일 수 있습니다. 긴 예외 메시지는 코드 해설에서 그대로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앞에서 POST/PATCH가 dict인지, 요청 필드가 정확한지, 학점이 범위에 맞는지 검사합니다. 학과 문자열 형식은 서비스에서 검사하고 학과 존재 여부는 DB 외래키가 검사합니다. 잘못된 학과가 서비스 검증을 통과하고 DB에서 실패하는 이유입니다.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timeout=3은 잠금 대기 시간이며 모든 쿼리의 제한 시간이 아닙니다. 매 실행에서 연결을 열기 때문에 PRAGMA를 connect에 둡니다. SQLite DB는 이 서버 프로세스 안에서 실행되며 데이터는 파일에 저장됩니다.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한 줄을 읽기 위해 나누었습니다. 인접한 Python 문자열 리터럴은 하나의 SQL 문자열로 결합됩니다. True는 execute의 write 인자로 이 INSERT가 쓰기 작업임을 나타냅니다. 값의 작은따옴표를 SQL 문자열에 이어 붙이지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write는 호출자가 지정하는 이 예제의 규칙입니다. SQL 문자열을 자동 판독하는 옵션이 아닙니다. sqlite3.Row를 dict로 바꾸면 열 이름을 JSON 키로 사용할 수 있습니다. 반환 dict는 with 블록 밖에 있어 커밋 이후 응답이 만들어집니다.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코드의 with closing(self.connect()) as db, db는 오른쪽 컨텍스트부터 종료합니다. db 컨텍스트에서 트랜잭션을 마무리한 뒤 closing이 닫습니다. 별도 autocommit 옵션을 설정하지 않은 현재 예제의 연결 기준입니다. 항상 모든 SELECT가 트랜잭션을 시작한다고 설명하지 않습니다. 상세 CODE_WALKTHROUGH 11번.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서로 다른 두 함수의 return을 모아 비교합니다. 두 return을 같은 함수에 붙여 넣는 예제가 아닙니다. WHERE를 생략하면 대상 전체가 될 수 있습니다. 같은 execute 함수를 사용하므로 연결·커밋 처리를 재사용합니다.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중복 PK 입력은 SQLite에서 IntegrityError, 없는 ID 삭제는 실행 성공 뒤 rowcount=0이라는 차이를 설명합니다. NotFound는 ValueError를 상속하며 dispatch의 첫 except에서 잡힙니다.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중복 등록은 2001이 존재하는 CRUD 등록 단계에서 수행합니다. 화면에서는 잘못된 학점을 먼저 막으므로 API 요청으로 서버 검증을 관찰합니다. DB에도 CHECK가 있지만 이번 201 입력은 서버 검증에서 먼저 거부됩니다. CODE_WALKTHROUGH 14번의 except 블록에서 400/404/409가 되는 위치를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헤더 생성과 json.dumps(value, ensure_ascii=False).encode() 부분은 슬라이드에서 생략했습니다. 전체 send는 해설 15번에 있습니다. Content-Length는 문자열 길이가 아니라 encode한 바이트의 길이입니다. self.end_headers는 상태 및 여러 헤더를 보낸 뒤 호출합니다.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response.ok 검사는 원본 한 줄의 줄바꿈을 조정했습니다. render의 else 분기 내용을 발췌했고 설명 주석을 추가했습니다. 데이터베이스 바인딩과 브라우저 textContent가 보호하는 경계가 다릅니다. 실제 목록 재구성은 replaceChildren, createElement, append 순서입니다.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SQL처럼 보이는 문자열을 바인딩해서 이름 값으로 저장합니다. dept_name이 문자열 NULL이면 존재하지 않는 학과 이름이므로 FK 오류가 납니다. 전체 DB나 다른 사람의 데이터로 실험하지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슬라이드의 SQL은 Python 문장이 아니라 교체할 SQL 조각입니다. 실제 list의 WHERE name = ? 문자열을 변경하고 조건이 있을 때의 (name,)을 (name,name)으로 변경합니다. 화면의 검색 설명과 완료 메시지도 접두어 검색에 맞춥니다. sqlite substr는 1부터 시작합니다. 이름의 앞 length(name)글자와 name을 비교하므로 %/_는 와일드카드가 아닙니다. 원래 exact 검색과 의도적으로 동작이 바뀌는 연습입니다.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필수 답변은 코드 해설 19번의 1,2,4,5,7번입니다. 한글 이름, NULL, 중복 등록 오류의 관찰을 함께 제출합니다. SQLite 내부 Parser 분석 과제는 별도 유지합니다.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9a0490a0844c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01e7ff94f7e41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da3adf5797f46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1472d0edcac42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593e0e56e309412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613cfebf159946e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a8d52bd808f94cf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0248d801e63141c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1f3e395695324ff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bbe16c7f9b5b421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041bd9b5233142f2" /></Relationships>
</file>

<file path=ppt/slideLayouts/slideLayout1.xml><?xml version="1.0" encoding="utf-8"?>
<p:sldLayout xmlns:p="http://schemas.openxmlformats.org/presentationml/2006/main" type="title" preserve="1">
  <p:cSld name="Orange Cov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F012FC8-E30E-47E5-9884-E8B86C2EDC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53DF953-88FE-47A8-AB88-FD2E88A0B204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title" preserve="1">
  <p:cSld name="Orange Section 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7C3A69A-CEEC-49BF-889E-046A1BDB59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6925E37-C2DF-434D-9152-37E4254F6B19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title" preserve="1">
  <p:cSld name="Orang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FB5E33A-7FF6-4034-8C69-F23A94E8C1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6312DE3-3A70-4112-8520-12F3A746638A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Orang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34B0F0B-637C-47DD-9194-E44516A3C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C4E736F-2846-4CE5-9702-CC006E6B07A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" preserve="1">
  <p:cSld name="Orange Two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5FD4E42-D3DC-4EDD-965D-ECEBFAA31D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3A2E2C2-4A66-429E-B153-C1C2875D96FF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Obj" preserve="1">
  <p:cSld name="Orange Two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4597E9C-8AED-4A76-AF0C-AC714C6C3B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6E04BB5-187F-43A4-BF49-C8EA76824031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04000" y="1326600"/>
            <a:ext cx="442692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822FCAF-B95F-41F4-9AAC-61DB19ADCD8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152680" y="1326600"/>
            <a:ext cx="442692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title" preserve="1">
  <p:cSld name="Orange Highl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EB32E23-4904-41D5-BA72-EF629B0F04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11FE849-B634-431D-ABEC-AABEC28BE814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twoObj" preserve="1">
  <p:cSld name="Orange Highl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B5BECD5-C7E7-400F-9E42-4F339E6D51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96C12C6-8776-488D-9666-EAAFAFC87C7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04000" y="1326600"/>
            <a:ext cx="442692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B960C7F-155D-4328-9057-E41763E142E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152680" y="1326600"/>
            <a:ext cx="442692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type="title" preserve="1">
  <p:cSld name="Orange Medi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1ACD476-B633-4AEE-9F6E-47C6A3D321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57C8225-318C-43F8-B97B-B52905CA9DE6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Orange Medi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B1B17E7-0485-4725-B299-2F681DFAEE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2E6C1FD-33BB-4F9C-B388-586FCFB2511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81EAB5D2-7087-4ABD-ADBC-DD1A0CB489B6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type="title" preserve="1">
  <p:cSld name="Orange Clos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056ABC5-57A5-4735-AC1C-AF22503D58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0387A5E-5E12-4957-B8ED-317A26572BC5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5c86d2bd5b4a42" /><Relationship Type="http://schemas.openxmlformats.org/officeDocument/2006/relationships/slideLayout" Target="/ppt/slideLayouts/slideLayout1.xml" Id="Rab08055326294ea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7e19597133e4257" /><Relationship Type="http://schemas.openxmlformats.org/officeDocument/2006/relationships/slideLayout" Target="/ppt/slideLayouts/slideLayout2.xml" Id="Rf2707ea024e5411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6fa56921b5b34341" /><Relationship Type="http://schemas.openxmlformats.org/officeDocument/2006/relationships/slideLayout" Target="/ppt/slideLayouts/slideLayout3.xml" Id="R9f9a8d5df94f4e57" /><Relationship Type="http://schemas.openxmlformats.org/officeDocument/2006/relationships/slideLayout" Target="/ppt/slideLayouts/slideLayout4.xml" Id="Rfef52dbcc31f4cc0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8b81e0fe6f5147a1" /><Relationship Type="http://schemas.openxmlformats.org/officeDocument/2006/relationships/slideLayout" Target="/ppt/slideLayouts/slideLayout5.xml" Id="R4593d919cc6b4f78" /><Relationship Type="http://schemas.openxmlformats.org/officeDocument/2006/relationships/slideLayout" Target="/ppt/slideLayouts/slideLayout6.xml" Id="R619c707418da4cf6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5b910db6ad504228" /><Relationship Type="http://schemas.openxmlformats.org/officeDocument/2006/relationships/slideLayout" Target="/ppt/slideLayouts/slideLayout7.xml" Id="R9ef45341882b486b" /><Relationship Type="http://schemas.openxmlformats.org/officeDocument/2006/relationships/slideLayout" Target="/ppt/slideLayouts/slideLayout8.xml" Id="R1a4bc15542844431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a08a5a3bbecd47b7" /><Relationship Type="http://schemas.openxmlformats.org/officeDocument/2006/relationships/slideLayout" Target="/ppt/slideLayouts/slideLayout9.xml" Id="R85ec3619a3814651" /><Relationship Type="http://schemas.openxmlformats.org/officeDocument/2006/relationships/slideLayout" Target="/ppt/slideLayouts/slideLayout10.xml" Id="R12507a0147914218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0c56f30376524af5" /><Relationship Type="http://schemas.openxmlformats.org/officeDocument/2006/relationships/slideLayout" Target="/ppt/slideLayouts/slideLayout11.xml" Id="Rdbc6a120486c430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background">
            <a:extLst xmlns:a="http://schemas.openxmlformats.org/drawingml/2006/main">
              <a:ext uri="{FF2B5EF4-FFF2-40B4-BE49-F238E27FC236}">
                <a16:creationId xmlns:a16="http://schemas.microsoft.com/office/drawing/2014/main" id="{977AC6E1-6F4B-4A1F-8667-78E1A764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over-orange-panel">
            <a:extLst xmlns:a="http://schemas.openxmlformats.org/drawingml/2006/main">
              <a:ext uri="{FF2B5EF4-FFF2-40B4-BE49-F238E27FC236}">
                <a16:creationId xmlns:a16="http://schemas.microsoft.com/office/drawing/2014/main" id="{F89CE107-A8C1-4808-B201-94461FDD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000" y="0"/>
            <a:ext cx="234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ver-accent-edge">
            <a:extLst xmlns:a="http://schemas.openxmlformats.org/drawingml/2006/main">
              <a:ext uri="{FF2B5EF4-FFF2-40B4-BE49-F238E27FC236}">
                <a16:creationId xmlns:a16="http://schemas.microsoft.com/office/drawing/2014/main" id="{0A558149-CED9-4F94-8C58-9C8EE74B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0800" y="0"/>
            <a:ext cx="792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5D4A169-8324-4319-93D1-14699C6F0C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4550CD0-3B68-4466-9434-91665D312CD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08055326294ea7"/>
  </p:sldLayoutIdLst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ivider-background">
            <a:extLst xmlns:a="http://schemas.openxmlformats.org/drawingml/2006/main">
              <a:ext uri="{FF2B5EF4-FFF2-40B4-BE49-F238E27FC236}">
                <a16:creationId xmlns:a16="http://schemas.microsoft.com/office/drawing/2014/main" id="{23ADF8C0-3229-4B6C-BBA9-31F9A079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divider-orange-rail">
            <a:extLst xmlns:a="http://schemas.openxmlformats.org/drawingml/2006/main">
              <a:ext uri="{FF2B5EF4-FFF2-40B4-BE49-F238E27FC236}">
                <a16:creationId xmlns:a16="http://schemas.microsoft.com/office/drawing/2014/main" id="{DA6C4B34-D8EF-4553-884F-FABE2121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92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divider-accent-edge">
            <a:extLst xmlns:a="http://schemas.openxmlformats.org/drawingml/2006/main">
              <a:ext uri="{FF2B5EF4-FFF2-40B4-BE49-F238E27FC236}">
                <a16:creationId xmlns:a16="http://schemas.microsoft.com/office/drawing/2014/main" id="{84C443B9-0168-41EE-A257-AA4E2E57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0"/>
            <a:ext cx="648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181B534-0F29-46E3-B9DC-B21407791B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297A62F-CE43-44B9-8BD6-EA863C404ED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f2707ea024e54116"/>
  </p:sldLayoutIdLst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background">
            <a:extLst xmlns:a="http://schemas.openxmlformats.org/drawingml/2006/main">
              <a:ext uri="{FF2B5EF4-FFF2-40B4-BE49-F238E27FC236}">
                <a16:creationId xmlns:a16="http://schemas.microsoft.com/office/drawing/2014/main" id="{F054EA47-EC57-4397-A959-F7BAEEA7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op-accent-content">
            <a:extLst xmlns:a="http://schemas.openxmlformats.org/drawingml/2006/main">
              <a:ext uri="{FF2B5EF4-FFF2-40B4-BE49-F238E27FC236}">
                <a16:creationId xmlns:a16="http://schemas.microsoft.com/office/drawing/2014/main" id="{40265127-C7AC-403B-898B-DE484D14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208800"/>
            <a:ext cx="666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-16200" rIns="90000" bIns="-162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footer-rule-content">
            <a:extLst xmlns:a="http://schemas.openxmlformats.org/drawingml/2006/main">
              <a:ext uri="{FF2B5EF4-FFF2-40B4-BE49-F238E27FC236}">
                <a16:creationId xmlns:a16="http://schemas.microsoft.com/office/drawing/2014/main" id="{B529516C-4A56-4E7D-9A83-2EF07D34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5407200"/>
            <a:ext cx="9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00">
            <a:solidFill>
              <a:srgbClr val="B8BCC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4520" tIns="-29520" rIns="74520" bIns="-295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E062E4A-DCCA-4EEB-8E35-B6F2DF89CA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E0AFE97-E7FB-46BE-AECD-CF8758FC724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9f9a8d5df94f4e57"/>
    <p:sldLayoutId xmlns:r="http://schemas.openxmlformats.org/officeDocument/2006/relationships" id="2147483654" r:id="Rfef52dbcc31f4cc0"/>
  </p:sldLayoutIdLst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columns-background">
            <a:extLst xmlns:a="http://schemas.openxmlformats.org/drawingml/2006/main">
              <a:ext uri="{FF2B5EF4-FFF2-40B4-BE49-F238E27FC236}">
                <a16:creationId xmlns:a16="http://schemas.microsoft.com/office/drawing/2014/main" id="{164E8AEE-F808-4A4D-BEDF-15F53DB8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op-accent-columns">
            <a:extLst xmlns:a="http://schemas.openxmlformats.org/drawingml/2006/main">
              <a:ext uri="{FF2B5EF4-FFF2-40B4-BE49-F238E27FC236}">
                <a16:creationId xmlns:a16="http://schemas.microsoft.com/office/drawing/2014/main" id="{7D1B9AD0-57ED-40D4-A710-AF36B5AF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208800"/>
            <a:ext cx="666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-16200" rIns="90000" bIns="-162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footer-rule-columns">
            <a:extLst xmlns:a="http://schemas.openxmlformats.org/drawingml/2006/main">
              <a:ext uri="{FF2B5EF4-FFF2-40B4-BE49-F238E27FC236}">
                <a16:creationId xmlns:a16="http://schemas.microsoft.com/office/drawing/2014/main" id="{07E2A49C-B848-4D3E-AE98-E595CDB5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5407200"/>
            <a:ext cx="9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00">
            <a:solidFill>
              <a:srgbClr val="B8BCC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4520" tIns="-29520" rIns="74520" bIns="-295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columns-divider">
            <a:extLst xmlns:a="http://schemas.openxmlformats.org/drawingml/2006/main">
              <a:ext uri="{FF2B5EF4-FFF2-40B4-BE49-F238E27FC236}">
                <a16:creationId xmlns:a16="http://schemas.microsoft.com/office/drawing/2014/main" id="{85726452-8C1B-4329-8903-8166B2AC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0" y="1494000"/>
            <a:ext cx="0" cy="34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00">
            <a:solidFill>
              <a:srgbClr val="B8BCC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4520" tIns="29520" rIns="74520" bIns="295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2205E9A-DDB7-45AB-9D35-97B01264E6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F7699EC-3129-4E6E-8DA7-655E42B482C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4593d919cc6b4f78"/>
    <p:sldLayoutId xmlns:r="http://schemas.openxmlformats.org/officeDocument/2006/relationships" id="2147483657" r:id="R619c707418da4cf6"/>
  </p:sldLayoutIdLst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highlight-background">
            <a:extLst xmlns:a="http://schemas.openxmlformats.org/drawingml/2006/main">
              <a:ext uri="{FF2B5EF4-FFF2-40B4-BE49-F238E27FC236}">
                <a16:creationId xmlns:a16="http://schemas.microsoft.com/office/drawing/2014/main" id="{C92B3FB3-C503-472C-9AC9-AFCB17A1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op-accent-highlight">
            <a:extLst xmlns:a="http://schemas.openxmlformats.org/drawingml/2006/main">
              <a:ext uri="{FF2B5EF4-FFF2-40B4-BE49-F238E27FC236}">
                <a16:creationId xmlns:a16="http://schemas.microsoft.com/office/drawing/2014/main" id="{19044252-C774-481B-8852-9D9D7F31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208800"/>
            <a:ext cx="666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-16200" rIns="90000" bIns="-162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footer-rule-highlight">
            <a:extLst xmlns:a="http://schemas.openxmlformats.org/drawingml/2006/main">
              <a:ext uri="{FF2B5EF4-FFF2-40B4-BE49-F238E27FC236}">
                <a16:creationId xmlns:a16="http://schemas.microsoft.com/office/drawing/2014/main" id="{A7451397-77EB-43F0-9713-FE2E4795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5407200"/>
            <a:ext cx="9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00">
            <a:solidFill>
              <a:srgbClr val="B8BCC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4520" tIns="-29520" rIns="74520" bIns="-295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highlight-band">
            <a:extLst xmlns:a="http://schemas.openxmlformats.org/drawingml/2006/main">
              <a:ext uri="{FF2B5EF4-FFF2-40B4-BE49-F238E27FC236}">
                <a16:creationId xmlns:a16="http://schemas.microsoft.com/office/drawing/2014/main" id="{271990CC-B969-444F-A4DA-E0923BAA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1458000"/>
            <a:ext cx="9216000" cy="59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78E9CF5-2F24-4138-8E7D-057AB95A7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76D0D02-075D-4B9E-86F6-9E53F577A0E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9" r:id="R9ef45341882b486b"/>
    <p:sldLayoutId xmlns:r="http://schemas.openxmlformats.org/officeDocument/2006/relationships" id="2147483660" r:id="R1a4bc15542844431"/>
  </p:sldLayoutIdLst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media-background">
            <a:extLst xmlns:a="http://schemas.openxmlformats.org/drawingml/2006/main">
              <a:ext uri="{FF2B5EF4-FFF2-40B4-BE49-F238E27FC236}">
                <a16:creationId xmlns:a16="http://schemas.microsoft.com/office/drawing/2014/main" id="{C897A6BB-6D15-4372-91C5-234F3CBA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op-accent-media">
            <a:extLst xmlns:a="http://schemas.openxmlformats.org/drawingml/2006/main">
              <a:ext uri="{FF2B5EF4-FFF2-40B4-BE49-F238E27FC236}">
                <a16:creationId xmlns:a16="http://schemas.microsoft.com/office/drawing/2014/main" id="{F7AD3833-8039-4AAC-996E-8BB4DCD8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208800"/>
            <a:ext cx="666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-16200" rIns="90000" bIns="-162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footer-rule-media">
            <a:extLst xmlns:a="http://schemas.openxmlformats.org/drawingml/2006/main">
              <a:ext uri="{FF2B5EF4-FFF2-40B4-BE49-F238E27FC236}">
                <a16:creationId xmlns:a16="http://schemas.microsoft.com/office/drawing/2014/main" id="{B6EA09CC-9AB5-44C5-AAB7-40429C9B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5407200"/>
            <a:ext cx="9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00">
            <a:solidFill>
              <a:srgbClr val="B8BCC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4520" tIns="-29520" rIns="74520" bIns="-295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media-frame">
            <a:extLst xmlns:a="http://schemas.openxmlformats.org/drawingml/2006/main">
              <a:ext uri="{FF2B5EF4-FFF2-40B4-BE49-F238E27FC236}">
                <a16:creationId xmlns:a16="http://schemas.microsoft.com/office/drawing/2014/main" id="{962533DC-8D8B-4AAD-B0A9-BF2156B9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00" y="1476000"/>
            <a:ext cx="4356000" cy="340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2"/>
          </a:solidFill>
          <a:ln xmlns:a="http://schemas.openxmlformats.org/drawingml/2006/main" w="9000">
            <a:solidFill>
              <a:srgbClr val="B8BCC4"/>
            </a:solidFill>
          </a:ln>
        </p:spPr>
        <p:txBody>
          <a:bodyPr xmlns:a="http://schemas.openxmlformats.org/drawingml/2006/main" lIns="75600" tIns="30600" rIns="75600" bIns="306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media-frame-accent">
            <a:extLst xmlns:a="http://schemas.openxmlformats.org/drawingml/2006/main">
              <a:ext uri="{FF2B5EF4-FFF2-40B4-BE49-F238E27FC236}">
                <a16:creationId xmlns:a16="http://schemas.microsoft.com/office/drawing/2014/main" id="{5CAE8A95-58C4-46B9-AE13-CD517A95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00" y="1476000"/>
            <a:ext cx="4356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-1800" rIns="90000" bIns="-18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31B9DB9-F024-483F-B87D-CD14F55DEE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32B3AB6-76E7-4A27-BBC4-4F9C777901E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85ec3619a3814651"/>
    <p:sldLayoutId xmlns:r="http://schemas.openxmlformats.org/officeDocument/2006/relationships" id="2147483663" r:id="R12507a0147914218"/>
  </p:sldLayoutIdLst>
</p:sldMaster>
</file>

<file path=ppt/slideMasters/slideMaster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closing-background">
            <a:extLst xmlns:a="http://schemas.openxmlformats.org/drawingml/2006/main">
              <a:ext uri="{FF2B5EF4-FFF2-40B4-BE49-F238E27FC236}">
                <a16:creationId xmlns:a16="http://schemas.microsoft.com/office/drawing/2014/main" id="{98047E99-30C6-4DF9-8834-DD033E5A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closing-corner">
            <a:extLst xmlns:a="http://schemas.openxmlformats.org/drawingml/2006/main">
              <a:ext uri="{FF2B5EF4-FFF2-40B4-BE49-F238E27FC236}">
                <a16:creationId xmlns:a16="http://schemas.microsoft.com/office/drawing/2014/main" id="{8217815B-78BF-41A7-AB69-4F68EC1B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000" y="0"/>
            <a:ext cx="1260000" cy="37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93789DC0-E46C-4F99-B8E2-577F7576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000" y="0"/>
            <a:ext cx="11160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19800" rIns="90000" bIns="198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749C0931-19C0-4303-B8B6-D6C33B43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5346000"/>
            <a:ext cx="9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00">
            <a:solidFill>
              <a:srgbClr val="B8BCC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4520" tIns="-29520" rIns="74520" bIns="-295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4BD516D-5BFA-4C38-BDE3-F50C6DADD4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CCF3FB8-1A11-4D3A-9538-78F8DE484D8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5" r:id="Rdbc6a120486c430b"/>
  </p:sldLayoutIdLst>
</p:sldMaster>
</file>

<file path=ppt/slideMasters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7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8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c347ea2404989" /><Relationship Type="http://schemas.openxmlformats.org/officeDocument/2006/relationships/notesSlide" Target="/ppt/notesSlides/notesSlide1.xml" Id="R51b8010da84a41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708e259bfda4ece" /><Relationship Type="http://schemas.openxmlformats.org/officeDocument/2006/relationships/notesSlide" Target="/ppt/notesSlides/notesSlide2.xml" Id="Rc9ba04301feb43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10e417605784deb" /><Relationship Type="http://schemas.openxmlformats.org/officeDocument/2006/relationships/notesSlide" Target="/ppt/notesSlides/notesSlide3.xml" Id="R3157dcfa86fd48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6b36f8edfb04701" /><Relationship Type="http://schemas.openxmlformats.org/officeDocument/2006/relationships/notesSlide" Target="/ppt/notesSlides/notesSlide4.xml" Id="R65d2500ad42a4d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73b54f3906640f1" /><Relationship Type="http://schemas.openxmlformats.org/officeDocument/2006/relationships/notesSlide" Target="/ppt/notesSlides/notesSlide5.xml" Id="R4e7e027fd13e42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2dc3febdce34fe5" /><Relationship Type="http://schemas.openxmlformats.org/officeDocument/2006/relationships/notesSlide" Target="/ppt/notesSlides/notesSlide6.xml" Id="Rec32f3ff2c4f49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e977941b4184b2c" /><Relationship Type="http://schemas.openxmlformats.org/officeDocument/2006/relationships/notesSlide" Target="/ppt/notesSlides/notesSlide7.xml" Id="R4f4902214f8a4d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f8126bbcd5a4b42" /><Relationship Type="http://schemas.openxmlformats.org/officeDocument/2006/relationships/notesSlide" Target="/ppt/notesSlides/notesSlide8.xml" Id="Rea86e07f14bc4d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130a6cf8e7143a4" /><Relationship Type="http://schemas.openxmlformats.org/officeDocument/2006/relationships/notesSlide" Target="/ppt/notesSlides/notesSlide9.xml" Id="Raab2f84fb52342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912629d39f7464f" /><Relationship Type="http://schemas.openxmlformats.org/officeDocument/2006/relationships/notesSlide" Target="/ppt/notesSlides/notesSlide10.xml" Id="Re6fc06076c394c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61b08f01fd2429b" /><Relationship Type="http://schemas.openxmlformats.org/officeDocument/2006/relationships/notesSlide" Target="/ppt/notesSlides/notesSlide11.xml" Id="R2feafc88622045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7c315a0e2e94e2b" /><Relationship Type="http://schemas.openxmlformats.org/officeDocument/2006/relationships/notesSlide" Target="/ppt/notesSlides/notesSlide12.xml" Id="Rbea5f6505f3d4d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3a06c3f410e4f9e" /><Relationship Type="http://schemas.openxmlformats.org/officeDocument/2006/relationships/notesSlide" Target="/ppt/notesSlides/notesSlide13.xml" Id="Rb8a348e8af1344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5293420251044b6" /><Relationship Type="http://schemas.openxmlformats.org/officeDocument/2006/relationships/notesSlide" Target="/ppt/notesSlides/notesSlide14.xml" Id="R1530fb46534a433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4245ec123b04fa2" /><Relationship Type="http://schemas.openxmlformats.org/officeDocument/2006/relationships/notesSlide" Target="/ppt/notesSlides/notesSlide15.xml" Id="R63158aa5a91846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9012d9270374646" /><Relationship Type="http://schemas.openxmlformats.org/officeDocument/2006/relationships/notesSlide" Target="/ppt/notesSlides/notesSlide16.xml" Id="R3c59170b5eae46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0945076dc784c6b" /><Relationship Type="http://schemas.openxmlformats.org/officeDocument/2006/relationships/notesSlide" Target="/ppt/notesSlides/notesSlide17.xml" Id="Ra4b5a59e00984b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4aa7dddfaa2432f" /><Relationship Type="http://schemas.openxmlformats.org/officeDocument/2006/relationships/notesSlide" Target="/ppt/notesSlides/notesSlide18.xml" Id="Rb3cfb4fd570e4de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10ab8f0ab5542c2" /><Relationship Type="http://schemas.openxmlformats.org/officeDocument/2006/relationships/notesSlide" Target="/ppt/notesSlides/notesSlide19.xml" Id="R505ec1d151c440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1cd8677e6ab4f3c" /><Relationship Type="http://schemas.openxmlformats.org/officeDocument/2006/relationships/notesSlide" Target="/ppt/notesSlides/notesSlide20.xml" Id="Rc9dfefd37355470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56c207434b24528" /><Relationship Type="http://schemas.openxmlformats.org/officeDocument/2006/relationships/notesSlide" Target="/ppt/notesSlides/notesSlide21.xml" Id="R15e60d01afba4c7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66e3c09bc714d59" /><Relationship Type="http://schemas.openxmlformats.org/officeDocument/2006/relationships/notesSlide" Target="/ppt/notesSlides/notesSlide22.xml" Id="R9e3470e477d1487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c93a0c6a941463a" /><Relationship Type="http://schemas.openxmlformats.org/officeDocument/2006/relationships/notesSlide" Target="/ppt/notesSlides/notesSlide23.xml" Id="R42c277e6fe5a44a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4147881ce414a96" /><Relationship Type="http://schemas.openxmlformats.org/officeDocument/2006/relationships/notesSlide" Target="/ppt/notesSlides/notesSlide24.xml" Id="Re5880bedd7334d9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eaf2096c3af4c3d" /><Relationship Type="http://schemas.openxmlformats.org/officeDocument/2006/relationships/notesSlide" Target="/ppt/notesSlides/notesSlide25.xml" Id="Rd1b3b50743ab4e6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aac1a9fc7a24a3a" /><Relationship Type="http://schemas.openxmlformats.org/officeDocument/2006/relationships/notesSlide" Target="/ppt/notesSlides/notesSlide26.xml" Id="R7a0709c9f8724b9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b58cae256f64af5" /><Relationship Type="http://schemas.openxmlformats.org/officeDocument/2006/relationships/notesSlide" Target="/ppt/notesSlides/notesSlide27.xml" Id="R75fd74796ca242b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a944be9817b42cb" /><Relationship Type="http://schemas.openxmlformats.org/officeDocument/2006/relationships/notesSlide" Target="/ppt/notesSlides/notesSlide28.xml" Id="R2519922997db402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3f9fafd4e5b4e12" /><Relationship Type="http://schemas.openxmlformats.org/officeDocument/2006/relationships/notesSlide" Target="/ppt/notesSlides/notesSlide29.xml" Id="R82812d292d49400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97742a35b294c7c" /><Relationship Type="http://schemas.openxmlformats.org/officeDocument/2006/relationships/notesSlide" Target="/ppt/notesSlides/notesSlide30.xml" Id="Rf0a8b7a37d5c4e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C541783-E3FD-411A-AEF0-58A55CADE4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8000" y="1440000"/>
            <a:ext cx="6768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83161E0-3F98-47A0-9DC7-34BF5180ACC4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468000" y="2934000"/>
            <a:ext cx="6552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320EE265-2770-4720-B9C2-FB1FAF134A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74000" y="1132560"/>
            <a:ext cx="1872000" cy="1875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4F4C5EE-4B76-4CA8-B57C-81016AA8E854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7974000" y="4260240"/>
            <a:ext cx="1872000" cy="91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title">
            <a:extLst xmlns:a="http://schemas.openxmlformats.org/drawingml/2006/main">
              <a:ext uri="{FF2B5EF4-FFF2-40B4-BE49-F238E27FC236}">
                <a16:creationId xmlns:a16="http://schemas.microsoft.com/office/drawing/2014/main" id="{D14A20C8-694F-45A9-AE81-B3001D50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38275"/>
            <a:ext cx="70008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00" b="1">
                <a:solidFill>
                  <a:srgbClr val="10121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700" b="1">
                <a:solidFill>
                  <a:srgbClr val="101216"/>
                </a:solidFill>
                <a:latin typeface="Noto Sans CJK KR"/>
                <a:ea typeface="Noto Sans CJK KR"/>
                <a:cs typeface="Noto Sans CJK KR"/>
              </a:rPr>
              <a:t>3-tier 학생 관리</a:t>
            </a:r>
          </a:p>
          <a:p xmlns:a="http://schemas.openxmlformats.org/drawingml/2006/main">
            <a:pPr algn="l">
              <a:defRPr sz="3700" b="1">
                <a:solidFill>
                  <a:srgbClr val="10121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700" b="1">
                <a:solidFill>
                  <a:srgbClr val="101216"/>
                </a:solidFill>
                <a:latin typeface="Noto Sans CJK KR"/>
                <a:ea typeface="Noto Sans CJK KR"/>
                <a:cs typeface="Noto Sans CJK KR"/>
              </a:rPr>
              <a:t>CRUD 실습</a:t>
            </a:r>
          </a:p>
        </p:txBody>
      </p:sp>
      <p:sp>
        <p:nvSpPr>
          <p:cNvPr id="72" name="subtitle">
            <a:extLst xmlns:a="http://schemas.openxmlformats.org/drawingml/2006/main">
              <a:ext uri="{FF2B5EF4-FFF2-40B4-BE49-F238E27FC236}">
                <a16:creationId xmlns:a16="http://schemas.microsoft.com/office/drawing/2014/main" id="{BAC35C5B-9D07-4E0E-ACEC-45793AEA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105150"/>
            <a:ext cx="681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실행 결과와 애플리케이션 코드 함께 읽기</a:t>
            </a:r>
          </a:p>
        </p:txBody>
      </p:sp>
      <p:sp>
        <p:nvSpPr>
          <p:cNvPr id="73" name="metadata">
            <a:extLst xmlns:a="http://schemas.openxmlformats.org/drawingml/2006/main">
              <a:ext uri="{FF2B5EF4-FFF2-40B4-BE49-F238E27FC236}">
                <a16:creationId xmlns:a16="http://schemas.microsoft.com/office/drawing/2014/main" id="{E0CF3290-7818-4EA9-AD24-43CE5F94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95750"/>
            <a:ext cx="676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0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데이터베이스</a:t>
            </a:r>
          </a:p>
          <a:p xmlns:a="http://schemas.openxmlformats.org/drawingml/2006/main">
            <a:pPr algn="l">
              <a:defRPr sz="190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0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1분반 9/18 · 2분반 9/17</a:t>
            </a:r>
          </a:p>
        </p:txBody>
      </p:sp>
      <p:sp>
        <p:nvSpPr>
          <p:cNvPr id="74" name="week-number">
            <a:extLst xmlns:a="http://schemas.openxmlformats.org/drawingml/2006/main">
              <a:ext uri="{FF2B5EF4-FFF2-40B4-BE49-F238E27FC236}">
                <a16:creationId xmlns:a16="http://schemas.microsoft.com/office/drawing/2014/main" id="{F0445D21-91F7-4955-94A6-6703A663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1638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75" name="right-label">
            <a:extLst xmlns:a="http://schemas.openxmlformats.org/drawingml/2006/main">
              <a:ext uri="{FF2B5EF4-FFF2-40B4-BE49-F238E27FC236}">
                <a16:creationId xmlns:a16="http://schemas.microsoft.com/office/drawing/2014/main" id="{BF3E4F93-38A4-4E33-9FB7-3724CF29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3-tier</a:t>
            </a:r>
          </a:p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90분 실습</a:t>
            </a:r>
          </a:p>
        </p:txBody>
      </p:sp>
      <p:sp>
        <p:nvSpPr>
          <p:cNvPr id="76" name="footer">
            <a:extLst xmlns:a="http://schemas.openxmlformats.org/drawingml/2006/main">
              <a:ext uri="{FF2B5EF4-FFF2-40B4-BE49-F238E27FC236}">
                <a16:creationId xmlns:a16="http://schemas.microsoft.com/office/drawing/2014/main" id="{D6BBC77A-A041-41C6-936A-DE227393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77" name="page">
            <a:extLst xmlns:a="http://schemas.openxmlformats.org/drawingml/2006/main">
              <a:ext uri="{FF2B5EF4-FFF2-40B4-BE49-F238E27FC236}">
                <a16:creationId xmlns:a16="http://schemas.microsoft.com/office/drawing/2014/main" id="{858B4ED9-B9B7-4B03-9DAE-E5A05A2C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01 / 30</a:t>
            </a:r>
          </a:p>
        </p:txBody>
      </p:sp>
    </p:spTree>
    <p:extLst>
      <p:ext uri="{BB962C8B-B14F-4D97-AF65-F5344CB8AC3E}">
        <p14:creationId xmlns:p14="http://schemas.microsoft.com/office/powerpoint/2010/main" val="5067587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3CBE7930-1214-49D1-98B6-F15A961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실습 목표</a:t>
            </a:r>
          </a:p>
        </p:txBody>
      </p:sp>
      <p:sp>
        <p:nvSpPr>
          <p:cNvPr id="76" name="item-0-label">
            <a:extLst xmlns:a="http://schemas.openxmlformats.org/drawingml/2006/main">
              <a:ext uri="{FF2B5EF4-FFF2-40B4-BE49-F238E27FC236}">
                <a16:creationId xmlns:a16="http://schemas.microsoft.com/office/drawing/2014/main" id="{5E4BB292-93DB-4C7F-BEED-2A9D4967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49542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요청의 이동</a:t>
            </a:r>
          </a:p>
        </p:txBody>
      </p:sp>
      <p:sp>
        <p:nvSpPr>
          <p:cNvPr id="77" name="item-0-body">
            <a:extLst xmlns:a="http://schemas.openxmlformats.org/drawingml/2006/main">
              <a:ext uri="{FF2B5EF4-FFF2-40B4-BE49-F238E27FC236}">
                <a16:creationId xmlns:a16="http://schemas.microsoft.com/office/drawing/2014/main" id="{99C3F698-C935-4401-9EEA-D6E0AA5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83832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등록 요청이 네 파일을 거쳐 DB에 저장되는 과정을 따라갑니다.</a:t>
            </a:r>
          </a:p>
        </p:txBody>
      </p:sp>
      <p:sp>
        <p:nvSpPr>
          <p:cNvPr id="78" name="item-1-label">
            <a:extLst xmlns:a="http://schemas.openxmlformats.org/drawingml/2006/main">
              <a:ext uri="{FF2B5EF4-FFF2-40B4-BE49-F238E27FC236}">
                <a16:creationId xmlns:a16="http://schemas.microsoft.com/office/drawing/2014/main" id="{659DEE78-44D5-4F96-870D-33C38A76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5717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코드의 역할</a:t>
            </a:r>
          </a:p>
        </p:txBody>
      </p:sp>
      <p:sp>
        <p:nvSpPr>
          <p:cNvPr id="79" name="item-1-body">
            <a:extLst xmlns:a="http://schemas.openxmlformats.org/drawingml/2006/main">
              <a:ext uri="{FF2B5EF4-FFF2-40B4-BE49-F238E27FC236}">
                <a16:creationId xmlns:a16="http://schemas.microsoft.com/office/drawing/2014/main" id="{021F53E7-3A17-40F9-B15B-C1A4F7ED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914650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JSON 변환, 검증, SQL 실행과 화면 갱신을 구분합니다.</a:t>
            </a:r>
          </a:p>
        </p:txBody>
      </p:sp>
      <p:sp>
        <p:nvSpPr>
          <p:cNvPr id="80" name="item-2-label">
            <a:extLst xmlns:a="http://schemas.openxmlformats.org/drawingml/2006/main">
              <a:ext uri="{FF2B5EF4-FFF2-40B4-BE49-F238E27FC236}">
                <a16:creationId xmlns:a16="http://schemas.microsoft.com/office/drawing/2014/main" id="{9DCC8161-AEC4-477A-B9DF-C2E6C66F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64807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직접 수정</a:t>
            </a:r>
          </a:p>
        </p:txBody>
      </p:sp>
      <p:sp>
        <p:nvSpPr>
          <p:cNvPr id="81" name="item-2-body">
            <a:extLst xmlns:a="http://schemas.openxmlformats.org/drawingml/2006/main">
              <a:ext uri="{FF2B5EF4-FFF2-40B4-BE49-F238E27FC236}">
                <a16:creationId xmlns:a16="http://schemas.microsoft.com/office/drawing/2014/main" id="{0164C7D1-AC37-4A1D-935B-F7699490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99097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이름 검색 SQL과 바인딩 값을 함께 바꿉니다.</a:t>
            </a:r>
          </a:p>
        </p:txBody>
      </p:sp>
      <p:sp>
        <p:nvSpPr>
          <p:cNvPr id="82" name="footer">
            <a:extLst xmlns:a="http://schemas.openxmlformats.org/drawingml/2006/main">
              <a:ext uri="{FF2B5EF4-FFF2-40B4-BE49-F238E27FC236}">
                <a16:creationId xmlns:a16="http://schemas.microsoft.com/office/drawing/2014/main" id="{34E01435-55BF-4E35-B094-A5E4CC24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3" name="page">
            <a:extLst xmlns:a="http://schemas.openxmlformats.org/drawingml/2006/main">
              <a:ext uri="{FF2B5EF4-FFF2-40B4-BE49-F238E27FC236}">
                <a16:creationId xmlns:a16="http://schemas.microsoft.com/office/drawing/2014/main" id="{82A1413B-F4D9-4E67-959A-40A87AF2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02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E491CF7E-A3C7-4CB7-AB59-9E5AA199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90분 실습 순서</a:t>
            </a:r>
          </a:p>
        </p:txBody>
      </p:sp>
      <p:graphicFrame>
        <p:nvGraphicFramePr>
          <p:cNvPr id="82" name=""/>
          <p:cNvGraphicFramePr/>
          <p:nvPr/>
        </p:nvGraphicFramePr>
        <p:xfrm>
          <a:off xmlns:a="http://schemas.openxmlformats.org/drawingml/2006/main" x="431959" y="1514475"/>
          <a:ext xmlns:a="http://schemas.openxmlformats.org/drawingml/2006/main" cx="9210675" cy="3286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6972300"/>
              </a:tblGrid>
              <a:tr h="469446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활동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</a:tr>
              <a:tr h="469446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0–10분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실행 환경과 3계층 구조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9446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10–20분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CRUD 실행과 HTTP 관찰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9446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20–45분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브라우저 요청·서버 라우팅·검증 코드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9446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45–65분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SQL·바인딩·트랜잭션·응답 코드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9446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65–85분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오류 경로 추적과 검색 코드 수정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9446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85–90분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실행 결과와 코드 설명 제출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footer">
            <a:extLst xmlns:a="http://schemas.openxmlformats.org/drawingml/2006/main">
              <a:ext uri="{FF2B5EF4-FFF2-40B4-BE49-F238E27FC236}">
                <a16:creationId xmlns:a16="http://schemas.microsoft.com/office/drawing/2014/main" id="{9BB97614-70BE-49F2-B3DF-C3D2008F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78" name="page">
            <a:extLst xmlns:a="http://schemas.openxmlformats.org/drawingml/2006/main">
              <a:ext uri="{FF2B5EF4-FFF2-40B4-BE49-F238E27FC236}">
                <a16:creationId xmlns:a16="http://schemas.microsoft.com/office/drawing/2014/main" id="{6855FD8F-125A-4AEF-AA07-0BDA0F32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03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0AA72D3A-1F19-4DAC-BFDC-1CC77AF3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논리적 3계층 구조</a:t>
            </a:r>
          </a:p>
        </p:txBody>
      </p:sp>
      <p:graphicFrame>
        <p:nvGraphicFramePr>
          <p:cNvPr id="83" name=""/>
          <p:cNvGraphicFramePr/>
          <p:nvPr/>
        </p:nvGraphicFramePr>
        <p:xfrm>
          <a:off xmlns:a="http://schemas.openxmlformats.org/drawingml/2006/main" x="431959" y="1514475"/>
          <a:ext xmlns:a="http://schemas.openxmlformats.org/drawingml/2006/main" cx="9210675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05000"/>
                <a:gridCol w="3333750"/>
                <a:gridCol w="3971925"/>
              </a:tblGrid>
              <a:tr h="762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계층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구성 요소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역할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</a:tr>
              <a:tr h="762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화면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브라우저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입력과 결과 표시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애플리케이션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Python 서버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 검증과 CRUD 처리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데이터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데이터 접근 모듈·SQLite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SQL 실행과 저장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foot">
            <a:extLst xmlns:a="http://schemas.openxmlformats.org/drawingml/2006/main">
              <a:ext uri="{FF2B5EF4-FFF2-40B4-BE49-F238E27FC236}">
                <a16:creationId xmlns:a16="http://schemas.microsoft.com/office/drawing/2014/main" id="{BCF778DF-10F9-4E39-9073-AECC8125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SQLite 엔진은 Python 서버 프로세스 안에서 실행됩니다.</a:t>
            </a:r>
          </a:p>
        </p:txBody>
      </p:sp>
      <p:sp>
        <p:nvSpPr>
          <p:cNvPr id="78" name="footer">
            <a:extLst xmlns:a="http://schemas.openxmlformats.org/drawingml/2006/main">
              <a:ext uri="{FF2B5EF4-FFF2-40B4-BE49-F238E27FC236}">
                <a16:creationId xmlns:a16="http://schemas.microsoft.com/office/drawing/2014/main" id="{30FD144B-09BD-47BE-BD0B-A9A82E01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79" name="page">
            <a:extLst xmlns:a="http://schemas.openxmlformats.org/drawingml/2006/main">
              <a:ext uri="{FF2B5EF4-FFF2-40B4-BE49-F238E27FC236}">
                <a16:creationId xmlns:a16="http://schemas.microsoft.com/office/drawing/2014/main" id="{D98DC9C8-D425-4044-9543-B30FB23B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04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C5980F41-BEFC-47E7-A78F-0C391606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실행 준비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24A957F0-1CDA-42A0-9545-09263EC2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Python 3.10 이상, 외부 패키지와 C 컴파일러 설치 불필요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B5D072FA-334A-4E1E-99B0-87346CC1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009775"/>
            <a:ext cx="92202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python3 server.py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http://127.0.0.1:8765/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5E1C5FF5-6902-410F-861E-0588FF75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Windows: py -3 server.py</a:t>
            </a:r>
          </a:p>
        </p:txBody>
      </p:sp>
      <p:sp>
        <p:nvSpPr>
          <p:cNvPr id="79" name="foot">
            <a:extLst xmlns:a="http://schemas.openxmlformats.org/drawingml/2006/main">
              <a:ext uri="{FF2B5EF4-FFF2-40B4-BE49-F238E27FC236}">
                <a16:creationId xmlns:a16="http://schemas.microsoft.com/office/drawing/2014/main" id="{04536B58-7072-46B5-8043-627EC694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포트 변경: python3 server.py --port 8766</a:t>
            </a:r>
          </a:p>
        </p:txBody>
      </p:sp>
      <p:sp>
        <p:nvSpPr>
          <p:cNvPr id="80" name="footer">
            <a:extLst xmlns:a="http://schemas.openxmlformats.org/drawingml/2006/main">
              <a:ext uri="{FF2B5EF4-FFF2-40B4-BE49-F238E27FC236}">
                <a16:creationId xmlns:a16="http://schemas.microsoft.com/office/drawing/2014/main" id="{1F72D469-FC3B-40CE-9F60-8F0486CC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1" name="page">
            <a:extLst xmlns:a="http://schemas.openxmlformats.org/drawingml/2006/main">
              <a:ext uri="{FF2B5EF4-FFF2-40B4-BE49-F238E27FC236}">
                <a16:creationId xmlns:a16="http://schemas.microsoft.com/office/drawing/2014/main" id="{0CB249F2-A25E-42FB-8D09-1972109F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05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DDBA9AE3-EABC-4E10-BC70-CD4E0F2B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CRUD와 HTTP 요청</a:t>
            </a:r>
          </a:p>
        </p:txBody>
      </p:sp>
      <p:graphicFrame>
        <p:nvGraphicFramePr>
          <p:cNvPr id="83" name=""/>
          <p:cNvGraphicFramePr/>
          <p:nvPr/>
        </p:nvGraphicFramePr>
        <p:xfrm>
          <a:off xmlns:a="http://schemas.openxmlformats.org/drawingml/2006/main" x="431959" y="1514475"/>
          <a:ext xmlns:a="http://schemas.openxmlformats.org/drawingml/2006/main" cx="9210675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2190750"/>
                <a:gridCol w="4829175"/>
              </a:tblGrid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작업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메서드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경로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/api/students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등록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/api/students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학점 수정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PATCH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/api/students/2001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삭제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DELETE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/api/students/2001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foot">
            <a:extLst xmlns:a="http://schemas.openxmlformats.org/drawingml/2006/main">
              <a:ext uri="{FF2B5EF4-FFF2-40B4-BE49-F238E27FC236}">
                <a16:creationId xmlns:a16="http://schemas.microsoft.com/office/drawing/2014/main" id="{0F3BE4AE-B8D2-4BE1-B1ED-28A3D6FE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브라우저는 SQL 대신 작업 경로와 입력값을 전송합니다.</a:t>
            </a:r>
          </a:p>
        </p:txBody>
      </p:sp>
      <p:sp>
        <p:nvSpPr>
          <p:cNvPr id="78" name="footer">
            <a:extLst xmlns:a="http://schemas.openxmlformats.org/drawingml/2006/main">
              <a:ext uri="{FF2B5EF4-FFF2-40B4-BE49-F238E27FC236}">
                <a16:creationId xmlns:a16="http://schemas.microsoft.com/office/drawing/2014/main" id="{55FBA8AB-435E-4150-A6E9-B38F109C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79" name="page">
            <a:extLst xmlns:a="http://schemas.openxmlformats.org/drawingml/2006/main">
              <a:ext uri="{FF2B5EF4-FFF2-40B4-BE49-F238E27FC236}">
                <a16:creationId xmlns:a16="http://schemas.microsoft.com/office/drawing/2014/main" id="{ED5C673D-4ACF-4229-8FEC-571942A5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06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A9D44E5D-0630-4A82-BB81-551EB152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등록과 이름 검색</a:t>
            </a:r>
          </a:p>
        </p:txBody>
      </p:sp>
      <p:sp>
        <p:nvSpPr>
          <p:cNvPr id="76" name="item-0-label">
            <a:extLst xmlns:a="http://schemas.openxmlformats.org/drawingml/2006/main">
              <a:ext uri="{FF2B5EF4-FFF2-40B4-BE49-F238E27FC236}">
                <a16:creationId xmlns:a16="http://schemas.microsoft.com/office/drawing/2014/main" id="{F607902D-085D-466F-A1A9-469C0013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49542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등록</a:t>
            </a:r>
          </a:p>
        </p:txBody>
      </p:sp>
      <p:sp>
        <p:nvSpPr>
          <p:cNvPr id="77" name="item-0-body">
            <a:extLst xmlns:a="http://schemas.openxmlformats.org/drawingml/2006/main">
              <a:ext uri="{FF2B5EF4-FFF2-40B4-BE49-F238E27FC236}">
                <a16:creationId xmlns:a16="http://schemas.microsoft.com/office/drawing/2014/main" id="{41F2C125-48D2-413A-8C14-F9C9E42C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83832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2001 / O'Brien / 컴퓨터공학 / 12를 입력합니다.</a:t>
            </a:r>
          </a:p>
        </p:txBody>
      </p:sp>
      <p:sp>
        <p:nvSpPr>
          <p:cNvPr id="78" name="item-1-label">
            <a:extLst xmlns:a="http://schemas.openxmlformats.org/drawingml/2006/main">
              <a:ext uri="{FF2B5EF4-FFF2-40B4-BE49-F238E27FC236}">
                <a16:creationId xmlns:a16="http://schemas.microsoft.com/office/drawing/2014/main" id="{09CC7832-BD39-4ED9-B292-35FB10A0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5717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확인</a:t>
            </a:r>
          </a:p>
        </p:txBody>
      </p:sp>
      <p:sp>
        <p:nvSpPr>
          <p:cNvPr id="79" name="item-1-body">
            <a:extLst xmlns:a="http://schemas.openxmlformats.org/drawingml/2006/main">
              <a:ext uri="{FF2B5EF4-FFF2-40B4-BE49-F238E27FC236}">
                <a16:creationId xmlns:a16="http://schemas.microsoft.com/office/drawing/2014/main" id="{AB67CB93-D1A3-4A6A-919E-ECFE1BCE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914650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HTTP 201, changes=1, 전체 학생 6명을 확인합니다.</a:t>
            </a:r>
          </a:p>
        </p:txBody>
      </p:sp>
      <p:sp>
        <p:nvSpPr>
          <p:cNvPr id="80" name="item-2-label">
            <a:extLst xmlns:a="http://schemas.openxmlformats.org/drawingml/2006/main">
              <a:ext uri="{FF2B5EF4-FFF2-40B4-BE49-F238E27FC236}">
                <a16:creationId xmlns:a16="http://schemas.microsoft.com/office/drawing/2014/main" id="{8F58802D-D305-4738-B6FA-3F25441D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64807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검색</a:t>
            </a:r>
          </a:p>
        </p:txBody>
      </p:sp>
      <p:sp>
        <p:nvSpPr>
          <p:cNvPr id="81" name="item-2-body">
            <a:extLst xmlns:a="http://schemas.openxmlformats.org/drawingml/2006/main">
              <a:ext uri="{FF2B5EF4-FFF2-40B4-BE49-F238E27FC236}">
                <a16:creationId xmlns:a16="http://schemas.microsoft.com/office/drawing/2014/main" id="{250C6658-5BC5-498B-A8B1-40B29009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99097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이름 O'Brien을 검색하고 한 행이 나오는지 확인합니다.</a:t>
            </a:r>
          </a:p>
        </p:txBody>
      </p:sp>
      <p:sp>
        <p:nvSpPr>
          <p:cNvPr id="82" name="foot">
            <a:extLst xmlns:a="http://schemas.openxmlformats.org/drawingml/2006/main">
              <a:ext uri="{FF2B5EF4-FFF2-40B4-BE49-F238E27FC236}">
                <a16:creationId xmlns:a16="http://schemas.microsoft.com/office/drawing/2014/main" id="{EF6D7989-8455-45F8-9205-9677EB55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검색은 부분 일치가 아닌 정확한 이름 일치입니다.</a:t>
            </a:r>
          </a:p>
        </p:txBody>
      </p:sp>
      <p:sp>
        <p:nvSpPr>
          <p:cNvPr id="83" name="footer">
            <a:extLst xmlns:a="http://schemas.openxmlformats.org/drawingml/2006/main">
              <a:ext uri="{FF2B5EF4-FFF2-40B4-BE49-F238E27FC236}">
                <a16:creationId xmlns:a16="http://schemas.microsoft.com/office/drawing/2014/main" id="{192D1354-7BCE-445A-A0B7-6FEB5DEB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4" name="page">
            <a:extLst xmlns:a="http://schemas.openxmlformats.org/drawingml/2006/main">
              <a:ext uri="{FF2B5EF4-FFF2-40B4-BE49-F238E27FC236}">
                <a16:creationId xmlns:a16="http://schemas.microsoft.com/office/drawing/2014/main" id="{F85E5661-9B0F-44D8-80A1-6BB2E975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07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E610B6B1-B983-41CD-8A12-B2613658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수정과 삭제</a:t>
            </a:r>
          </a:p>
        </p:txBody>
      </p:sp>
      <p:sp>
        <p:nvSpPr>
          <p:cNvPr id="76" name="item-0-label">
            <a:extLst xmlns:a="http://schemas.openxmlformats.org/drawingml/2006/main">
              <a:ext uri="{FF2B5EF4-FFF2-40B4-BE49-F238E27FC236}">
                <a16:creationId xmlns:a16="http://schemas.microsoft.com/office/drawing/2014/main" id="{79C7BE95-0E29-45B3-92E2-B85614B1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49542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수정</a:t>
            </a:r>
          </a:p>
        </p:txBody>
      </p:sp>
      <p:sp>
        <p:nvSpPr>
          <p:cNvPr id="77" name="item-0-body">
            <a:extLst xmlns:a="http://schemas.openxmlformats.org/drawingml/2006/main">
              <a:ext uri="{FF2B5EF4-FFF2-40B4-BE49-F238E27FC236}">
                <a16:creationId xmlns:a16="http://schemas.microsoft.com/office/drawing/2014/main" id="{815814E6-68E2-4BB0-B3B3-D9DAA5F7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83832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학번 2001의 학점을 24로 바꿉니다.</a:t>
            </a:r>
          </a:p>
        </p:txBody>
      </p:sp>
      <p:sp>
        <p:nvSpPr>
          <p:cNvPr id="78" name="item-1-label">
            <a:extLst xmlns:a="http://schemas.openxmlformats.org/drawingml/2006/main">
              <a:ext uri="{FF2B5EF4-FFF2-40B4-BE49-F238E27FC236}">
                <a16:creationId xmlns:a16="http://schemas.microsoft.com/office/drawing/2014/main" id="{C831D87B-BA6F-4736-B198-032B2DC3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5717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삭제</a:t>
            </a:r>
          </a:p>
        </p:txBody>
      </p:sp>
      <p:sp>
        <p:nvSpPr>
          <p:cNvPr id="79" name="item-1-body">
            <a:extLst xmlns:a="http://schemas.openxmlformats.org/drawingml/2006/main">
              <a:ext uri="{FF2B5EF4-FFF2-40B4-BE49-F238E27FC236}">
                <a16:creationId xmlns:a16="http://schemas.microsoft.com/office/drawing/2014/main" id="{5C937ED2-DFFC-4902-B727-9D387C5C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914650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학번 2001을 삭제하고 검색 결과 0행을 확인합니다.</a:t>
            </a:r>
          </a:p>
        </p:txBody>
      </p:sp>
      <p:sp>
        <p:nvSpPr>
          <p:cNvPr id="80" name="item-2-label">
            <a:extLst xmlns:a="http://schemas.openxmlformats.org/drawingml/2006/main">
              <a:ext uri="{FF2B5EF4-FFF2-40B4-BE49-F238E27FC236}">
                <a16:creationId xmlns:a16="http://schemas.microsoft.com/office/drawing/2014/main" id="{D92E45FD-234A-49C5-9F3A-C0ECE538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64807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없는 학생</a:t>
            </a:r>
          </a:p>
        </p:txBody>
      </p:sp>
      <p:sp>
        <p:nvSpPr>
          <p:cNvPr id="81" name="item-2-body">
            <a:extLst xmlns:a="http://schemas.openxmlformats.org/drawingml/2006/main">
              <a:ext uri="{FF2B5EF4-FFF2-40B4-BE49-F238E27FC236}">
                <a16:creationId xmlns:a16="http://schemas.microsoft.com/office/drawing/2014/main" id="{2D982186-8F95-46C6-A265-B2189F45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99097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같은 학번을 다시 삭제하면 HTTP 404가 반환됩니다.</a:t>
            </a:r>
          </a:p>
        </p:txBody>
      </p:sp>
      <p:sp>
        <p:nvSpPr>
          <p:cNvPr id="82" name="footer">
            <a:extLst xmlns:a="http://schemas.openxmlformats.org/drawingml/2006/main">
              <a:ext uri="{FF2B5EF4-FFF2-40B4-BE49-F238E27FC236}">
                <a16:creationId xmlns:a16="http://schemas.microsoft.com/office/drawing/2014/main" id="{AA78850F-FDFF-49A3-8C09-1998155E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3" name="page">
            <a:extLst xmlns:a="http://schemas.openxmlformats.org/drawingml/2006/main">
              <a:ext uri="{FF2B5EF4-FFF2-40B4-BE49-F238E27FC236}">
                <a16:creationId xmlns:a16="http://schemas.microsoft.com/office/drawing/2014/main" id="{C0AB2232-AF74-4771-89B5-6AB105C0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08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308281A9-7874-4785-BC7A-A299CF30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코드 파일과 책임</a:t>
            </a:r>
          </a:p>
        </p:txBody>
      </p:sp>
      <p:graphicFrame>
        <p:nvGraphicFramePr>
          <p:cNvPr id="82" name=""/>
          <p:cNvGraphicFramePr/>
          <p:nvPr/>
        </p:nvGraphicFramePr>
        <p:xfrm>
          <a:off xmlns:a="http://schemas.openxmlformats.org/drawingml/2006/main" x="431959" y="1514475"/>
          <a:ext xmlns:a="http://schemas.openxmlformats.org/drawingml/2006/main" cx="9210675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24125"/>
                <a:gridCol w="2857500"/>
                <a:gridCol w="3829050"/>
              </a:tblGrid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파일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핵심 함수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담당 역할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static/app.js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request · list · render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입력, HTTP, 화면 갱신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server.py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dispatch · send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경로 처리와 JSON 응답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service.py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Service.run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 검증과 작업 선택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repository.py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add · execute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고정 SQL, 바인딩, 저장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footer">
            <a:extLst xmlns:a="http://schemas.openxmlformats.org/drawingml/2006/main">
              <a:ext uri="{FF2B5EF4-FFF2-40B4-BE49-F238E27FC236}">
                <a16:creationId xmlns:a16="http://schemas.microsoft.com/office/drawing/2014/main" id="{F761B549-FDB8-4631-83FD-27D004FA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78" name="page">
            <a:extLst xmlns:a="http://schemas.openxmlformats.org/drawingml/2006/main">
              <a:ext uri="{FF2B5EF4-FFF2-40B4-BE49-F238E27FC236}">
                <a16:creationId xmlns:a16="http://schemas.microsoft.com/office/drawing/2014/main" id="{94E4CD39-D241-494A-830B-296C0F1B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09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A914BC6E-BCE0-4D61-94CE-990C98CC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등록 요청의 전체 흐름</a:t>
            </a:r>
          </a:p>
        </p:txBody>
      </p:sp>
      <p:graphicFrame>
        <p:nvGraphicFramePr>
          <p:cNvPr id="82" name=""/>
          <p:cNvGraphicFramePr/>
          <p:nvPr/>
        </p:nvGraphicFramePr>
        <p:xfrm>
          <a:off xmlns:a="http://schemas.openxmlformats.org/drawingml/2006/main" x="431959" y="1514475"/>
          <a:ext xmlns:a="http://schemas.openxmlformats.org/drawingml/2006/main" cx="9210675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5876925"/>
              </a:tblGrid>
              <a:tr h="508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위치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전달하는 데이터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</a:tr>
              <a:tr h="508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브라우저 request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 /api/students와 JSON 본문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서버 dispatch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메서드, 학번, Python dict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서비스 run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검증한 (학번, 이름, 학과, 학점)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저장소 add · execute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INSERT 템플릿과 매개변수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서버 send / 브라우저 render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HTTP 201, 후속 GET과 목록 표시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footer">
            <a:extLst xmlns:a="http://schemas.openxmlformats.org/drawingml/2006/main">
              <a:ext uri="{FF2B5EF4-FFF2-40B4-BE49-F238E27FC236}">
                <a16:creationId xmlns:a16="http://schemas.microsoft.com/office/drawing/2014/main" id="{BCEC7BD6-7199-4F2F-8B34-02424812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78" name="page">
            <a:extLst xmlns:a="http://schemas.openxmlformats.org/drawingml/2006/main">
              <a:ext uri="{FF2B5EF4-FFF2-40B4-BE49-F238E27FC236}">
                <a16:creationId xmlns:a16="http://schemas.microsoft.com/office/drawing/2014/main" id="{0E928BF0-196A-4CAB-9BDC-1C430955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10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3B6A2463-ED0F-4FF1-A32B-84E90367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객체를 연결하는 시작 코드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1680122B-6282-4679-BB2A-7DE9DADD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server.py · make_server()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33DA9BC4-1AD6-4B44-8A8C-57AAA2D7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repository = Repository(db_path)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repository.initialize()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server = ThreadingHTTPServer(('127.0.0.1', port), Handler)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server.service = Service(repository)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return server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375625C5-B9B8-4C0D-9521-E5B09BB8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서비스에 저장소 객체를 전달합니다.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HTTP 처리와 SQL 실행을 파일별로 나누어 읽습니다.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E0169BFC-AA22-4BF5-9568-45557DD4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2367E873-8D35-44ED-9F47-602BA4D0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11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78415780-6AD5-475F-814E-B4F00E41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폼 제출과 입력값 변환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6F594962-9B4E-43AA-BF61-C97DA973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static/app.js · add-form 이벤트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83A8D26F-3840-4F82-9393-B23DF6F7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$('add-form').onsubmit = (event) =&gt; {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event.preventDefault();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action(async () =&gt; {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const form = new FormData(event.target);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5AF06AE1-E236-4BD1-A0EE-01C5D73E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preventDefault는 기본 폼 제출을 막습니다.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FormData는 입력창의 name 속성으로 값을 읽습니다.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0366DBA7-7967-4F6E-986D-72709C2C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AE05D718-66DC-4DB4-B8D8-B7434471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12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5B885DA8-748B-439D-BE81-2300ED25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등록 요청의 본문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F769DA7F-DDCB-418C-857F-63586CFD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static/app.js · POST 호출 · 줄바꿈 조정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1F5E75A1-991B-4312-9638-FC886E9C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await request('POST', '/api/students', {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id: Number(form.get('id')),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name: form.get('name'),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dept_name: form.get('dept_name') || null,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tot_cred: Number(form.get('tot_cred'))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});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await list(false);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0E555734-8083-4CCA-9F30-4F7E1540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숫자와 null로 변환한 값을 서버에 보냅니다.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등록 성공 뒤에 별도 GET으로 목록을 갱신합니다.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8F389DE9-D180-451B-A8C4-35B4F039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9296222F-1CDF-4AC8-9767-261358BC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13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9FE27215-8864-45B8-81C6-646E6927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JSON 직렬화와 비동기 요청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8A96D210-8A2A-4B3A-94D1-83C52AEF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static/app.js · request() 발췌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AD726477-7DFA-41D0-8A10-ED476C26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const options = {method, headers: {}};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if (body !== undefined) {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options.headers['Content-Type'] = 'application/json';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options.body = JSON.stringify(body);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// 관찰창 표시 코드는 생략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const response = await fetch(path, options);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const data = await response.json();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51C719FA-FD95-4243-A0F0-BB19BA82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객체를 JSON 문자열로 보내고 응답 JSON을 읽습니다.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두 프로세스가 같은 객체를 공유하는 것은 아닙니다.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E6CF9C6C-5ED7-47D6-9BAD-A0EAE998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DEC73D99-7112-418C-804E-6892EFB2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14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0465554B-1B6E-48C4-96D8-A27BA033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HTTP 메서드와 경로 처리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16B61F39-9BD5-451C-B583-31040BE7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server.py · Handler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E8AD6241-593C-4128-B94E-B214CC9B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do_GET = do_POST = do_PATCH = do_DELETE = dispatch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# dispatch() 안의 경로 처리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route = re.fullmatch(r'/api/students(?:/([0-9]+))?', url.path)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# 경로 오류 처리는 생략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sid = int(route[1]) if route[1] else None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6FE54803-EB28-45D5-86FD-914892D2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GET·POST·PATCH·DELETE가 dispatch를 사용합니다.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목록 경로는 sid=None, /2001 경로는 sid=2001입니다.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82D2E49C-4672-499A-A719-E92DE42C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5FDA085D-00FC-4605-B9C9-17D7FD48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15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886B615D-67D2-4BA0-A2DB-F34FE3F1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요청 JSON을 Python 값으로 읽기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BC450AC9-6D48-46A9-A642-1B8831CB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server.py · dispatch() 발췌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C8068241-CC8F-4CFE-ACB7-E02DFDF5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length = int(self.headers.get('Content-Length', '0'))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if not 0 &lt; length &lt;= 8192: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raise InputError('요청 본문은 1~8192바이트여야 합니다.')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body = json.loads(self.rfile.read(length))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27B6EB7A-125A-473A-B4E9-40FE7621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JSON의 숫자는 Python 숫자, null은 None이 됩니다.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변환한 본문을 Service.run에 전달합니다.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D6535FB2-BF7D-457A-BD1B-CD671E82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E48148F2-A5CA-4F31-8F00-06E3BCAF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16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9D891DC8-797C-4966-810C-BE646C17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서버의 학점 검증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15787077-B05D-46F2-8B78-04E1A1F6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service.py · integer()와 호출 부분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EB67ECB9-1D18-4C2C-8A71-458998D8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def integer(value, label, minimum, maximum):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if type(value) is not int or not minimum &lt;= value &lt;= maximum: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    raise InputError(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        f'{label}: {minimum}~{maximum} '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        '범위의 정수가 필요합니다.')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return 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credits = integer(body['tot_cred'], '이수 학점', 0, 200)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D9C3BC8D-C8F3-412E-9AA3-B00165BB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학점 201은 SQL 실행 전에 거부합니다.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화면 검사를 우회한 요청도 서버에서 확인합니다.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D4B97AA6-17BA-4AF6-B416-2E3B429B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E8E5F41A-9E64-4A3E-B5CE-C8420BB9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17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D8314716-46F6-44F8-95DB-28A804A9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서비스가 저장소에 전달하는 값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6DE96902-F2F4-4DF3-8DBA-A14BB331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service.py · Service.run()의 POST 분기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FAB00D49-B7C1-48CE-92AB-124C77BA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sid = integer(body['id'], '학번', 1, 2147483647)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name = text(body['name'], '이름')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dept = body['dept_name']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if dept is not None: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dept = text(dept, '학과')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return self.repository.add((sid, name, dept, credits))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F7458299-DC6A-44C1-AF57-BF49F26E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필드 검증을 끝내고 값 튜플을 전달합니다.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튜플 순서는 INSERT 열 순서와 같아야 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83C0A895-4F4A-49ED-92B1-6EDF6881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63D78A2D-53BB-48EE-AA6A-184EBDF9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18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85CE38E2-2A1C-44F6-99FF-C4FCCD2C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SQLite 연결과 외래키 설정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E95AC25D-715F-4A66-B635-2D8B125C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repository.py · connect()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B260899C-78E9-49B5-8004-78144BAE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db = sqlite3.connect(self.path, timeout=3)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db.row_factory = sqlite3.Row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db.execute('PRAGMA foreign_keys = ON')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return db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BBF96AE7-619F-4CCC-82F5-865A9555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외래키 검사는 새 연결마다 켭니다.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sqlite3.Row는 조회 행을 열 이름으로 다루게 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0D2B4B46-C9E8-4F43-BAA9-611FCDDD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BE6B0298-8D0E-4A80-A718-A7751470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19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597721D9-FA90-4C4E-AEE7-17251B8F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SQL과 매개변수를 나누어 실행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302B05B9-447B-4CF3-AC77-B867E42E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repository.py · add() 호출 내용 · 줄바꿈 조정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77B190BD-6C91-4D25-B09E-986257AD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return self.execute(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'INSERT INTO student(id, name, dept_name, tot_cred) '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'VALUES (?, ?, ?, ?)',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values, True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74705F1A-67AD-4AE0-804E-34CBF28E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values = (2001, "O'Brien", "컴퓨터공학", 12)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SQL의 네 자리와 튜플의 네 값을 순서대로 연결합니다.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22567CCD-BA69-4FCA-B64F-6162511C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D83EA89E-36C0-4093-9794-E65F2E93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20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C9445C1A-470B-4A92-939C-898C9C70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실행 결과와 변경 행 수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8D1A62A4-BAD0-4049-A5CA-A9D89FB3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repository.py · execute() 발췌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76AAC2C1-1620-4B52-8AB2-89FDC0A9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with closing(self.connect()) as db, db: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cursor = db.execute(sql, params)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rows = [] if write else [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    dict(row) for row in cursor.fetchall()]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changes = cursor.rowcount if write else 0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C131C70D-D016-4FAF-BDAB-BDFD9C1E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SELECT는 rows로, DML은 changes로 결과를 확인합니다.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SQL 템플릿과 params를 execute에 별도로 전달합니다.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43BF9E25-FB9B-4A95-8732-5422FB4C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EEF53D36-2BE8-498B-8C92-AC25E975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21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F8AAB2BE-4709-496D-98D6-05B98AFE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커밋·롤백·연결 해제</a:t>
            </a:r>
          </a:p>
        </p:txBody>
      </p:sp>
      <p:sp>
        <p:nvSpPr>
          <p:cNvPr id="76" name="item-0-label">
            <a:extLst xmlns:a="http://schemas.openxmlformats.org/drawingml/2006/main">
              <a:ext uri="{FF2B5EF4-FFF2-40B4-BE49-F238E27FC236}">
                <a16:creationId xmlns:a16="http://schemas.microsoft.com/office/drawing/2014/main" id="{40EDD99B-7A7C-48FA-8576-D4FBF810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49542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with db</a:t>
            </a:r>
          </a:p>
        </p:txBody>
      </p:sp>
      <p:sp>
        <p:nvSpPr>
          <p:cNvPr id="77" name="item-0-body">
            <a:extLst xmlns:a="http://schemas.openxmlformats.org/drawingml/2006/main">
              <a:ext uri="{FF2B5EF4-FFF2-40B4-BE49-F238E27FC236}">
                <a16:creationId xmlns:a16="http://schemas.microsoft.com/office/drawing/2014/main" id="{A88C9B17-9098-4E13-849A-201F0975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83832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정상 종료는 커밋, 예외 전파는 롤백을 처리합니다.</a:t>
            </a:r>
          </a:p>
        </p:txBody>
      </p:sp>
      <p:sp>
        <p:nvSpPr>
          <p:cNvPr id="78" name="item-1-label">
            <a:extLst xmlns:a="http://schemas.openxmlformats.org/drawingml/2006/main">
              <a:ext uri="{FF2B5EF4-FFF2-40B4-BE49-F238E27FC236}">
                <a16:creationId xmlns:a16="http://schemas.microsoft.com/office/drawing/2014/main" id="{F12848BD-EEA0-4655-ABFC-09E423B6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5717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closing(connection)</a:t>
            </a:r>
          </a:p>
        </p:txBody>
      </p:sp>
      <p:sp>
        <p:nvSpPr>
          <p:cNvPr id="79" name="item-1-body">
            <a:extLst xmlns:a="http://schemas.openxmlformats.org/drawingml/2006/main">
              <a:ext uri="{FF2B5EF4-FFF2-40B4-BE49-F238E27FC236}">
                <a16:creationId xmlns:a16="http://schemas.microsoft.com/office/drawing/2014/main" id="{CD5454E4-78AD-4473-B13D-71F027A3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914650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마지막에 SQLite 연결을 닫습니다.</a:t>
            </a:r>
          </a:p>
        </p:txBody>
      </p:sp>
      <p:sp>
        <p:nvSpPr>
          <p:cNvPr id="80" name="item-2-label">
            <a:extLst xmlns:a="http://schemas.openxmlformats.org/drawingml/2006/main">
              <a:ext uri="{FF2B5EF4-FFF2-40B4-BE49-F238E27FC236}">
                <a16:creationId xmlns:a16="http://schemas.microsoft.com/office/drawing/2014/main" id="{675AA3D8-A220-4058-8962-F7B90F94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64807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오류 전파</a:t>
            </a:r>
          </a:p>
        </p:txBody>
      </p:sp>
      <p:sp>
        <p:nvSpPr>
          <p:cNvPr id="81" name="item-2-body">
            <a:extLst xmlns:a="http://schemas.openxmlformats.org/drawingml/2006/main">
              <a:ext uri="{FF2B5EF4-FFF2-40B4-BE49-F238E27FC236}">
                <a16:creationId xmlns:a16="http://schemas.microsoft.com/office/drawing/2014/main" id="{5EB5AA85-3250-4348-BC18-B5EC9D89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99097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DB 예외를 HTTP 처리기까지 전달해 오류 응답을 만듭니다.</a:t>
            </a:r>
          </a:p>
        </p:txBody>
      </p:sp>
      <p:sp>
        <p:nvSpPr>
          <p:cNvPr id="82" name="foot">
            <a:extLst xmlns:a="http://schemas.openxmlformats.org/drawingml/2006/main">
              <a:ext uri="{FF2B5EF4-FFF2-40B4-BE49-F238E27FC236}">
                <a16:creationId xmlns:a16="http://schemas.microsoft.com/office/drawing/2014/main" id="{6DC97164-D665-4FA3-8B58-FFD6BACD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연결의 with만 사용해도 연결이 자동으로 닫힌다고 가정하지 않습니다.</a:t>
            </a:r>
          </a:p>
        </p:txBody>
      </p:sp>
      <p:sp>
        <p:nvSpPr>
          <p:cNvPr id="83" name="footer">
            <a:extLst xmlns:a="http://schemas.openxmlformats.org/drawingml/2006/main">
              <a:ext uri="{FF2B5EF4-FFF2-40B4-BE49-F238E27FC236}">
                <a16:creationId xmlns:a16="http://schemas.microsoft.com/office/drawing/2014/main" id="{4F9BB563-4357-437D-BF45-4338CCA3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4" name="page">
            <a:extLst xmlns:a="http://schemas.openxmlformats.org/drawingml/2006/main">
              <a:ext uri="{FF2B5EF4-FFF2-40B4-BE49-F238E27FC236}">
                <a16:creationId xmlns:a16="http://schemas.microsoft.com/office/drawing/2014/main" id="{3DC284C9-7461-43B8-AC85-2B5E41C8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22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B186EB51-ED27-4C3A-880D-F3DD736B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UPDATE와 DELETE의 바인딩 순서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6DE1111C-6639-4C16-9CB3-6709DE38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repository.py · update(), delete() · 줄바꿈 조정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F82709AE-DF31-4787-8D00-2E8586EB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return self.execute(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'UPDATE student SET tot_cred = ? WHERE id = ?',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(credits, student_id), True)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return self.execute(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'DELETE FROM student WHERE id = ?', (student_id,), True)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E677CB42-53FB-44F6-9547-000489C6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학번 2001을 24학점으로 수정할 params는 (24, 2001)입니다.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원소 하나인 튜플에는 쉼표가 필요합니다.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0CEEA35E-8B70-41D5-9157-03F92A89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F622AE26-F88F-430E-9D88-F17B0D4C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23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AE5C292D-7533-46C1-AAE2-D47355E2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없는 학생과 변경 행 수 0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F4D7731F-45EA-45D6-BC90-4D7DBC58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service.py · Service.run()의 공통 처리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ED84C749-94F7-44DA-9F3F-05A01F20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if not result['changes']: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raise NotFound('해당 학생이 없습니다.')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return result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5495A9F9-2EAF-4B34-BE7C-B264915D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0행 UPDATE·DELETE는 SQLite 실행 오류가 아닐 수 있습니다.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서비스가 0행을 해석하여 HTTP 404로 바꿉니다.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9971D38A-9000-4076-A801-8463E3D7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8260B3AC-3BDE-4728-B095-836C5923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24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F6CFFDAB-BD0A-496F-A34B-E597E203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오류 발생 계층</a:t>
            </a:r>
          </a:p>
        </p:txBody>
      </p:sp>
      <p:graphicFrame>
        <p:nvGraphicFramePr>
          <p:cNvPr id="83" name=""/>
          <p:cNvGraphicFramePr/>
          <p:nvPr/>
        </p:nvGraphicFramePr>
        <p:xfrm>
          <a:off xmlns:a="http://schemas.openxmlformats.org/drawingml/2006/main" x="431959" y="1514475"/>
          <a:ext xmlns:a="http://schemas.openxmlformats.org/drawingml/2006/main" cx="9210675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10000"/>
                <a:gridCol w="3143250"/>
                <a:gridCol w="2257425"/>
              </a:tblGrid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실험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발생 계층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학번 2001 중복 등록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409 · PK 위반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데이터베이스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API로 학점 201 전송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400 · 범위 검사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애플리케이션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없는 학과로 등록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409 · FK 위반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데이터베이스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없는 학생 수정·삭제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404 · 대상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애플리케이션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foot">
            <a:extLst xmlns:a="http://schemas.openxmlformats.org/drawingml/2006/main">
              <a:ext uri="{FF2B5EF4-FFF2-40B4-BE49-F238E27FC236}">
                <a16:creationId xmlns:a16="http://schemas.microsoft.com/office/drawing/2014/main" id="{AB853A6B-47F5-4AC9-A53F-D8EC801E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실습지 4번의 요청을 실행하고 실패 후 데이터가 유지되는지 확인합니다.</a:t>
            </a:r>
          </a:p>
        </p:txBody>
      </p:sp>
      <p:sp>
        <p:nvSpPr>
          <p:cNvPr id="78" name="footer">
            <a:extLst xmlns:a="http://schemas.openxmlformats.org/drawingml/2006/main">
              <a:ext uri="{FF2B5EF4-FFF2-40B4-BE49-F238E27FC236}">
                <a16:creationId xmlns:a16="http://schemas.microsoft.com/office/drawing/2014/main" id="{B73DB5E9-FF53-4D98-A9B3-5D02524B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79" name="page">
            <a:extLst xmlns:a="http://schemas.openxmlformats.org/drawingml/2006/main">
              <a:ext uri="{FF2B5EF4-FFF2-40B4-BE49-F238E27FC236}">
                <a16:creationId xmlns:a16="http://schemas.microsoft.com/office/drawing/2014/main" id="{2D206BE3-0B0A-46B5-A584-3A4AAB82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25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09B0C1E4-F485-450C-8CCA-46E4BE0D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응답의 HTTP 상태와 본문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54D2A6ED-AFBF-4D3B-8154-2F3CD46C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server.py · dispatch(), send() 발췌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09294CA7-91CB-490A-AF2D-EA40B1F8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result.update(ok=True)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self.send(201 if self.command == 'POST' else 200, result)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# send() 안에서 JSON 바이트를 만든 뒤 전송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self.send_response(status)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self.end_headers()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self.wfile.write(data)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20BA5458-716D-444C-BF5A-9145D7E2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Python dict를 JSON 바이트로 바꾸어 브라우저에 보냅니다.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상태 코드와 응답 본문은 서로 다른 부분입니다.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48AECE7D-EE55-4C85-94B2-5D71F6DF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9AC2C8B5-C076-4D43-8032-FA68D63A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26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B570CF18-5857-43E2-9625-98F0341D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오류 응답 검사와 화면 갱신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5A088F19-645A-4045-B13B-631EFFB8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static/app.js · request(), render() 발췌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A7FE8386-E2CC-4D2B-99E8-ED164B11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if (!response.ok)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throw new Error(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`HTTP ${response.status} · ${data.error}`);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// render()는 값으로 HTML을 조립하지 않습니다.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td.textContent = row[key] === null ? '미정 (NULL)' : row[key];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24BF4177-33E6-4CC0-8AC1-3DE52311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fetch는 HTTP 409를 받아도 응답을 반환할 수 있습니다.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textContent는 학생 이름을 HTML 대신 텍스트로 표시합니다.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F9AFB149-A435-4D5E-800E-50B276A5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773C6773-D111-4AEB-A7F3-B34FA3BD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27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4B412F13-64A6-47B6-8189-63690165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NULL과 SQL처럼 보이는 이름</a:t>
            </a:r>
          </a:p>
        </p:txBody>
      </p:sp>
      <p:sp>
        <p:nvSpPr>
          <p:cNvPr id="76" name="item-0-label">
            <a:extLst xmlns:a="http://schemas.openxmlformats.org/drawingml/2006/main">
              <a:ext uri="{FF2B5EF4-FFF2-40B4-BE49-F238E27FC236}">
                <a16:creationId xmlns:a16="http://schemas.microsoft.com/office/drawing/2014/main" id="{0207BC1E-1B2C-4CEF-BACB-2224111D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49542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NULL</a:t>
            </a:r>
          </a:p>
        </p:txBody>
      </p:sp>
      <p:sp>
        <p:nvSpPr>
          <p:cNvPr id="77" name="item-0-body">
            <a:extLst xmlns:a="http://schemas.openxmlformats.org/drawingml/2006/main">
              <a:ext uri="{FF2B5EF4-FFF2-40B4-BE49-F238E27FC236}">
                <a16:creationId xmlns:a16="http://schemas.microsoft.com/office/drawing/2014/main" id="{6C1CEE54-5483-4377-BAD4-E220A2AE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83832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2002 / 가상학생 / 미정 (NULL) / 0을 등록합니다.</a:t>
            </a:r>
          </a:p>
        </p:txBody>
      </p:sp>
      <p:sp>
        <p:nvSpPr>
          <p:cNvPr id="78" name="item-1-label">
            <a:extLst xmlns:a="http://schemas.openxmlformats.org/drawingml/2006/main">
              <a:ext uri="{FF2B5EF4-FFF2-40B4-BE49-F238E27FC236}">
                <a16:creationId xmlns:a16="http://schemas.microsoft.com/office/drawing/2014/main" id="{39166493-6D20-4CDB-BE7D-2A553880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5717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문자열</a:t>
            </a:r>
          </a:p>
        </p:txBody>
      </p:sp>
      <p:sp>
        <p:nvSpPr>
          <p:cNvPr id="79" name="item-1-body">
            <a:extLst xmlns:a="http://schemas.openxmlformats.org/drawingml/2006/main">
              <a:ext uri="{FF2B5EF4-FFF2-40B4-BE49-F238E27FC236}">
                <a16:creationId xmlns:a16="http://schemas.microsoft.com/office/drawing/2014/main" id="{E7C44D75-FB01-4403-B428-5BA59D21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914650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2003의 이름을 x' OR 1=1 -- 로 등록합니다.</a:t>
            </a:r>
          </a:p>
        </p:txBody>
      </p:sp>
      <p:sp>
        <p:nvSpPr>
          <p:cNvPr id="80" name="item-2-label">
            <a:extLst xmlns:a="http://schemas.openxmlformats.org/drawingml/2006/main">
              <a:ext uri="{FF2B5EF4-FFF2-40B4-BE49-F238E27FC236}">
                <a16:creationId xmlns:a16="http://schemas.microsoft.com/office/drawing/2014/main" id="{6BF7198F-B7BE-4662-9ECE-65FE5BCF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64807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검색 결과</a:t>
            </a:r>
          </a:p>
        </p:txBody>
      </p:sp>
      <p:sp>
        <p:nvSpPr>
          <p:cNvPr id="81" name="item-2-body">
            <a:extLst xmlns:a="http://schemas.openxmlformats.org/drawingml/2006/main">
              <a:ext uri="{FF2B5EF4-FFF2-40B4-BE49-F238E27FC236}">
                <a16:creationId xmlns:a16="http://schemas.microsoft.com/office/drawing/2014/main" id="{0EBEEBF4-3365-4369-AC11-4A021A47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99097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같은 이름을 검색하면 2003 학생 한 명만 나옵니다.</a:t>
            </a:r>
          </a:p>
        </p:txBody>
      </p:sp>
      <p:sp>
        <p:nvSpPr>
          <p:cNvPr id="82" name="foot">
            <a:extLst xmlns:a="http://schemas.openxmlformats.org/drawingml/2006/main">
              <a:ext uri="{FF2B5EF4-FFF2-40B4-BE49-F238E27FC236}">
                <a16:creationId xmlns:a16="http://schemas.microsoft.com/office/drawing/2014/main" id="{3C22359B-2690-428D-A9EC-6E23F737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요청 JSON의 null과 문자열 "NULL"은 다른 값입니다.</a:t>
            </a:r>
          </a:p>
        </p:txBody>
      </p:sp>
      <p:sp>
        <p:nvSpPr>
          <p:cNvPr id="83" name="footer">
            <a:extLst xmlns:a="http://schemas.openxmlformats.org/drawingml/2006/main">
              <a:ext uri="{FF2B5EF4-FFF2-40B4-BE49-F238E27FC236}">
                <a16:creationId xmlns:a16="http://schemas.microsoft.com/office/drawing/2014/main" id="{170BDDC9-B9AA-4079-9517-0E21BD32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4" name="page">
            <a:extLst xmlns:a="http://schemas.openxmlformats.org/drawingml/2006/main">
              <a:ext uri="{FF2B5EF4-FFF2-40B4-BE49-F238E27FC236}">
                <a16:creationId xmlns:a16="http://schemas.microsoft.com/office/drawing/2014/main" id="{48A2D094-F24B-4E40-BEDB-887BACD1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28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58311EAA-FD54-4FF6-B23F-C5CA1114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직접 수정: 이름 접두어 검색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D88604AC-B464-4603-9741-9327DA90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repository.py · Repository.list()의 조건과 params 변경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81772F67-2026-41FC-853F-D2573A2D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# 변경할 SQL 조건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WHERE substr(name, 1, length(?)) = 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# 이름 조건이 있을 때 전달할 값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(name, name)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245834DC-59EC-4279-BF04-B77C805F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초기 데이터에서 김을 검색하면 김민지 1명이 나옵니다.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두 개의 ?에 각각 같은 이름을 전달합니다.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9375B8F3-60E5-4ED0-9FAF-58B8518C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3E077797-47C5-495F-AD73-BCB594F3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29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3E7B258-6FC8-4E6B-8466-CEA3ACCB3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34C79B-F328-46D2-871B-03E22A14F44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1AFC7061-AAB4-43DC-8368-091F1CA2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코드 설명과 수정 결과 제출</a:t>
            </a:r>
          </a:p>
        </p:txBody>
      </p:sp>
      <p:sp>
        <p:nvSpPr>
          <p:cNvPr id="76" name="item-0-label">
            <a:extLst xmlns:a="http://schemas.openxmlformats.org/drawingml/2006/main">
              <a:ext uri="{FF2B5EF4-FFF2-40B4-BE49-F238E27FC236}">
                <a16:creationId xmlns:a16="http://schemas.microsoft.com/office/drawing/2014/main" id="{70CD8254-E059-4973-B265-0ACD76BF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49542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요청 추적</a:t>
            </a:r>
          </a:p>
        </p:txBody>
      </p:sp>
      <p:sp>
        <p:nvSpPr>
          <p:cNvPr id="77" name="item-0-body">
            <a:extLst xmlns:a="http://schemas.openxmlformats.org/drawingml/2006/main">
              <a:ext uri="{FF2B5EF4-FFF2-40B4-BE49-F238E27FC236}">
                <a16:creationId xmlns:a16="http://schemas.microsoft.com/office/drawing/2014/main" id="{5642B1BE-2A4E-49F5-B30E-C3AF483F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83832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POST 요청이 거치는 파일·함수와 입력값을 적습니다.</a:t>
            </a:r>
          </a:p>
        </p:txBody>
      </p:sp>
      <p:sp>
        <p:nvSpPr>
          <p:cNvPr id="78" name="item-1-label">
            <a:extLst xmlns:a="http://schemas.openxmlformats.org/drawingml/2006/main">
              <a:ext uri="{FF2B5EF4-FFF2-40B4-BE49-F238E27FC236}">
                <a16:creationId xmlns:a16="http://schemas.microsoft.com/office/drawing/2014/main" id="{C54981F1-34A7-46F8-856C-C9355698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5717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코드 설명</a:t>
            </a:r>
          </a:p>
        </p:txBody>
      </p:sp>
      <p:sp>
        <p:nvSpPr>
          <p:cNvPr id="79" name="item-1-body">
            <a:extLst xmlns:a="http://schemas.openxmlformats.org/drawingml/2006/main">
              <a:ext uri="{FF2B5EF4-FFF2-40B4-BE49-F238E27FC236}">
                <a16:creationId xmlns:a16="http://schemas.microsoft.com/office/drawing/2014/main" id="{DB78CB88-6E24-4787-A551-827A7C59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914650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UPDATE 바인딩 순서와 커밋·연결 해제를 설명합니다.</a:t>
            </a:r>
          </a:p>
        </p:txBody>
      </p:sp>
      <p:sp>
        <p:nvSpPr>
          <p:cNvPr id="80" name="item-2-label">
            <a:extLst xmlns:a="http://schemas.openxmlformats.org/drawingml/2006/main">
              <a:ext uri="{FF2B5EF4-FFF2-40B4-BE49-F238E27FC236}">
                <a16:creationId xmlns:a16="http://schemas.microsoft.com/office/drawing/2014/main" id="{BF1CB778-C176-4891-A082-261B00B7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64807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수정 결과</a:t>
            </a:r>
          </a:p>
        </p:txBody>
      </p:sp>
      <p:sp>
        <p:nvSpPr>
          <p:cNvPr id="81" name="item-2-body">
            <a:extLst xmlns:a="http://schemas.openxmlformats.org/drawingml/2006/main">
              <a:ext uri="{FF2B5EF4-FFF2-40B4-BE49-F238E27FC236}">
                <a16:creationId xmlns:a16="http://schemas.microsoft.com/office/drawing/2014/main" id="{ADD3DFCF-CB95-457D-B1D0-293993ED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99097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접두어 검색의 SQL·params와 실행 결과를 제출합니다.</a:t>
            </a:r>
          </a:p>
        </p:txBody>
      </p:sp>
      <p:sp>
        <p:nvSpPr>
          <p:cNvPr id="82" name="foot">
            <a:extLst xmlns:a="http://schemas.openxmlformats.org/drawingml/2006/main">
              <a:ext uri="{FF2B5EF4-FFF2-40B4-BE49-F238E27FC236}">
                <a16:creationId xmlns:a16="http://schemas.microsoft.com/office/drawing/2014/main" id="{35121BD9-4C01-4DBA-8760-0A81FAF7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CODE_WALKTHROUGH.md와 WORKSHEET.md를 함께 사용합니다.</a:t>
            </a:r>
          </a:p>
        </p:txBody>
      </p:sp>
      <p:sp>
        <p:nvSpPr>
          <p:cNvPr id="83" name="footer">
            <a:extLst xmlns:a="http://schemas.openxmlformats.org/drawingml/2006/main">
              <a:ext uri="{FF2B5EF4-FFF2-40B4-BE49-F238E27FC236}">
                <a16:creationId xmlns:a16="http://schemas.microsoft.com/office/drawing/2014/main" id="{6F84F0F2-1860-4AB4-8273-77E149BE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4" name="page">
            <a:extLst xmlns:a="http://schemas.openxmlformats.org/drawingml/2006/main">
              <a:ext uri="{FF2B5EF4-FFF2-40B4-BE49-F238E27FC236}">
                <a16:creationId xmlns:a16="http://schemas.microsoft.com/office/drawing/2014/main" id="{2E744C00-6572-4F90-92D1-75F74C7C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30 / 30</a:t>
            </a:r>
          </a:p>
        </p:txBody>
      </p:sp>
    </p:spTree>
    <p:extLst>
      <p:ext uri="{BB962C8B-B14F-4D97-AF65-F5344CB8AC3E}">
        <p14:creationId xmlns:p14="http://schemas.microsoft.com/office/powerpoint/2010/main" val="1493375631"/>
      </p:ext>
    </p:extLst>
  </p:cSld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2026-09-17T09:38:37.2060000Z</dcterms:created>
  <dcterms:modified xsi:type="dcterms:W3CDTF">2026-09-17T09:38:37.2060000Z</dcterms:modified>
</coreProperties>
</file>