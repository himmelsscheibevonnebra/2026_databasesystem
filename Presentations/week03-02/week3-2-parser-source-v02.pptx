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Masters/slideMaster7.xml" ContentType="application/vnd.openxmlformats-officedocument.presentationml.slideMaster+xml"/>
  <Override PartName="/ppt/slideMasters/theme/theme8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9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d0a3f569b741cf" /><Relationship Type="http://schemas.openxmlformats.org/officeDocument/2006/relationships/extended-properties" Target="/docProps/app.xml" Id="Rfc43ffefbc9a4ae3" /><Relationship Type="http://schemas.openxmlformats.org/officeDocument/2006/relationships/officeDocument" Target="/ppt/presentation.xml" Id="R5fd28d56cb8e49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628a63954b40c6"/>
    <p:sldMasterId xmlns:r="http://schemas.openxmlformats.org/officeDocument/2006/relationships" id="2147483650" r:id="R28a71a296c3c42ea"/>
    <p:sldMasterId xmlns:r="http://schemas.openxmlformats.org/officeDocument/2006/relationships" id="2147483652" r:id="Rc9c838bf96024551"/>
    <p:sldMasterId xmlns:r="http://schemas.openxmlformats.org/officeDocument/2006/relationships" id="2147483655" r:id="Rbb8f7bbefeb441df"/>
    <p:sldMasterId xmlns:r="http://schemas.openxmlformats.org/officeDocument/2006/relationships" id="2147483658" r:id="Rb437436d7db44ff0"/>
    <p:sldMasterId xmlns:r="http://schemas.openxmlformats.org/officeDocument/2006/relationships" id="2147483661" r:id="R699a0c8fa890412a"/>
    <p:sldMasterId xmlns:r="http://schemas.openxmlformats.org/officeDocument/2006/relationships" id="2147483664" r:id="R22f8fd505c864426"/>
  </p:sldMasterIdLst>
  <p:notesMasterIdLst>
    <p:notesMasterId xmlns:r="http://schemas.openxmlformats.org/officeDocument/2006/relationships" r:id="Rbfbed0e79ede4ad0"/>
  </p:notesMasterIdLst>
  <p:sldIdLst>
    <p:sldId xmlns:r="http://schemas.openxmlformats.org/officeDocument/2006/relationships" id="256" r:id="R128e5348c76c4f7f"/>
    <p:sldId xmlns:r="http://schemas.openxmlformats.org/officeDocument/2006/relationships" id="257" r:id="Rdaff79d3453c4dd5"/>
    <p:sldId xmlns:r="http://schemas.openxmlformats.org/officeDocument/2006/relationships" id="258" r:id="R0f875beb25424a25"/>
    <p:sldId xmlns:r="http://schemas.openxmlformats.org/officeDocument/2006/relationships" id="259" r:id="R4b76812bbf53417c"/>
    <p:sldId xmlns:r="http://schemas.openxmlformats.org/officeDocument/2006/relationships" id="260" r:id="Re247cadb78874a40"/>
    <p:sldId xmlns:r="http://schemas.openxmlformats.org/officeDocument/2006/relationships" id="261" r:id="R086ce6eea9ff439e"/>
    <p:sldId xmlns:r="http://schemas.openxmlformats.org/officeDocument/2006/relationships" id="262" r:id="R7a4fa06d5f3b4a64"/>
    <p:sldId xmlns:r="http://schemas.openxmlformats.org/officeDocument/2006/relationships" id="263" r:id="R35133f457b3047ca"/>
    <p:sldId xmlns:r="http://schemas.openxmlformats.org/officeDocument/2006/relationships" id="264" r:id="Ra476d9b139a74d97"/>
    <p:sldId xmlns:r="http://schemas.openxmlformats.org/officeDocument/2006/relationships" id="265" r:id="R480cd577f0864145"/>
    <p:sldId xmlns:r="http://schemas.openxmlformats.org/officeDocument/2006/relationships" id="266" r:id="Rfce1ed80735748c9"/>
    <p:sldId xmlns:r="http://schemas.openxmlformats.org/officeDocument/2006/relationships" id="267" r:id="R4ca36ca4a9d34f1f"/>
    <p:sldId xmlns:r="http://schemas.openxmlformats.org/officeDocument/2006/relationships" id="268" r:id="R40af2c898b8443dc"/>
    <p:sldId xmlns:r="http://schemas.openxmlformats.org/officeDocument/2006/relationships" id="269" r:id="Rccd508b2d5cc49d9"/>
    <p:sldId xmlns:r="http://schemas.openxmlformats.org/officeDocument/2006/relationships" id="270" r:id="Rd40925b35934489d"/>
    <p:sldId xmlns:r="http://schemas.openxmlformats.org/officeDocument/2006/relationships" id="271" r:id="Rf29460327cb448c6"/>
    <p:sldId xmlns:r="http://schemas.openxmlformats.org/officeDocument/2006/relationships" id="272" r:id="Rc5111100c1734e72"/>
    <p:sldId xmlns:r="http://schemas.openxmlformats.org/officeDocument/2006/relationships" id="273" r:id="R53d86ecdf29a4b01"/>
  </p:sldIdLst>
  <p:sldSz cx="10080000" cy="567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a5931ff334495e" /><Relationship Type="http://schemas.openxmlformats.org/officeDocument/2006/relationships/slideMaster" Target="/ppt/slideMasters/slideMaster1.xml" Id="R30628a63954b40c6" /><Relationship Type="http://schemas.openxmlformats.org/officeDocument/2006/relationships/slideMaster" Target="/ppt/slideMasters/slideMaster2.xml" Id="R28a71a296c3c42ea" /><Relationship Type="http://schemas.openxmlformats.org/officeDocument/2006/relationships/slideMaster" Target="/ppt/slideMasters/slideMaster3.xml" Id="Rc9c838bf96024551" /><Relationship Type="http://schemas.openxmlformats.org/officeDocument/2006/relationships/slideMaster" Target="/ppt/slideMasters/slideMaster4.xml" Id="Rbb8f7bbefeb441df" /><Relationship Type="http://schemas.openxmlformats.org/officeDocument/2006/relationships/slideMaster" Target="/ppt/slideMasters/slideMaster5.xml" Id="Rb437436d7db44ff0" /><Relationship Type="http://schemas.openxmlformats.org/officeDocument/2006/relationships/slideMaster" Target="/ppt/slideMasters/slideMaster6.xml" Id="R699a0c8fa890412a" /><Relationship Type="http://schemas.openxmlformats.org/officeDocument/2006/relationships/slideMaster" Target="/ppt/slideMasters/slideMaster7.xml" Id="R22f8fd505c864426" /><Relationship Type="http://schemas.openxmlformats.org/officeDocument/2006/relationships/notesMaster" Target="/ppt/notesMasters/notesMaster1.xml" Id="Rbfbed0e79ede4ad0" /><Relationship Type="http://schemas.openxmlformats.org/officeDocument/2006/relationships/presProps" Target="/ppt/presProps.xml" Id="R9cbe668f43a949d1" /><Relationship Type="http://schemas.openxmlformats.org/officeDocument/2006/relationships/tableStyles" Target="/ppt/tableStyles.xml" Id="R79057b13441f4db3" /><Relationship Type="http://schemas.openxmlformats.org/officeDocument/2006/relationships/slide" Target="/ppt/slides/slide1.xml" Id="R128e5348c76c4f7f" /><Relationship Type="http://schemas.openxmlformats.org/officeDocument/2006/relationships/slide" Target="/ppt/slides/slide2.xml" Id="Rdaff79d3453c4dd5" /><Relationship Type="http://schemas.openxmlformats.org/officeDocument/2006/relationships/slide" Target="/ppt/slides/slide3.xml" Id="R0f875beb25424a25" /><Relationship Type="http://schemas.openxmlformats.org/officeDocument/2006/relationships/slide" Target="/ppt/slides/slide4.xml" Id="R4b76812bbf53417c" /><Relationship Type="http://schemas.openxmlformats.org/officeDocument/2006/relationships/slide" Target="/ppt/slides/slide5.xml" Id="Re247cadb78874a40" /><Relationship Type="http://schemas.openxmlformats.org/officeDocument/2006/relationships/slide" Target="/ppt/slides/slide6.xml" Id="R086ce6eea9ff439e" /><Relationship Type="http://schemas.openxmlformats.org/officeDocument/2006/relationships/slide" Target="/ppt/slides/slide7.xml" Id="R7a4fa06d5f3b4a64" /><Relationship Type="http://schemas.openxmlformats.org/officeDocument/2006/relationships/slide" Target="/ppt/slides/slide8.xml" Id="R35133f457b3047ca" /><Relationship Type="http://schemas.openxmlformats.org/officeDocument/2006/relationships/slide" Target="/ppt/slides/slide9.xml" Id="Ra476d9b139a74d97" /><Relationship Type="http://schemas.openxmlformats.org/officeDocument/2006/relationships/slide" Target="/ppt/slides/slide10.xml" Id="R480cd577f0864145" /><Relationship Type="http://schemas.openxmlformats.org/officeDocument/2006/relationships/slide" Target="/ppt/slides/slide11.xml" Id="Rfce1ed80735748c9" /><Relationship Type="http://schemas.openxmlformats.org/officeDocument/2006/relationships/slide" Target="/ppt/slides/slide12.xml" Id="R4ca36ca4a9d34f1f" /><Relationship Type="http://schemas.openxmlformats.org/officeDocument/2006/relationships/slide" Target="/ppt/slides/slide13.xml" Id="R40af2c898b8443dc" /><Relationship Type="http://schemas.openxmlformats.org/officeDocument/2006/relationships/slide" Target="/ppt/slides/slide14.xml" Id="Rccd508b2d5cc49d9" /><Relationship Type="http://schemas.openxmlformats.org/officeDocument/2006/relationships/slide" Target="/ppt/slides/slide15.xml" Id="Rd40925b35934489d" /><Relationship Type="http://schemas.openxmlformats.org/officeDocument/2006/relationships/slide" Target="/ppt/slides/slide16.xml" Id="Rf29460327cb448c6" /><Relationship Type="http://schemas.openxmlformats.org/officeDocument/2006/relationships/slide" Target="/ppt/slides/slide17.xml" Id="Rc5111100c1734e72" /><Relationship Type="http://schemas.openxmlformats.org/officeDocument/2006/relationships/slide" Target="/ppt/slides/slide18.xml" Id="R53d86ecdf29a4b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9.xml" Id="R96a57591faef47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9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897aa5cf8b4545" /><Relationship Type="http://schemas.openxmlformats.org/officeDocument/2006/relationships/notesMaster" Target="/ppt/notesMasters/notesMaster1.xml" Id="Rb2572028f1074f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194c5757c14574" /><Relationship Type="http://schemas.openxmlformats.org/officeDocument/2006/relationships/notesMaster" Target="/ppt/notesMasters/notesMaster1.xml" Id="R88d6320e2fa54e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f9a16fc6cb4a9e" /><Relationship Type="http://schemas.openxmlformats.org/officeDocument/2006/relationships/notesMaster" Target="/ppt/notesMasters/notesMaster1.xml" Id="R0ebabd104ab248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83f90329de47cc" /><Relationship Type="http://schemas.openxmlformats.org/officeDocument/2006/relationships/notesMaster" Target="/ppt/notesMasters/notesMaster1.xml" Id="R09e87a7972294e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acb653f75b42b8" /><Relationship Type="http://schemas.openxmlformats.org/officeDocument/2006/relationships/notesMaster" Target="/ppt/notesMasters/notesMaster1.xml" Id="R20a9cdd1048e48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8a41b602fc42ad" /><Relationship Type="http://schemas.openxmlformats.org/officeDocument/2006/relationships/notesMaster" Target="/ppt/notesMasters/notesMaster1.xml" Id="R0bd51ce5671a46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9d6e54a37c4e26" /><Relationship Type="http://schemas.openxmlformats.org/officeDocument/2006/relationships/notesMaster" Target="/ppt/notesMasters/notesMaster1.xml" Id="Rfcacde459eee42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00f8ffafe24adb" /><Relationship Type="http://schemas.openxmlformats.org/officeDocument/2006/relationships/notesMaster" Target="/ppt/notesMasters/notesMaster1.xml" Id="Re83f3972df8b4f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0c7cac3baa48be" /><Relationship Type="http://schemas.openxmlformats.org/officeDocument/2006/relationships/notesMaster" Target="/ppt/notesMasters/notesMaster1.xml" Id="R1a035499b12746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2594cef4dc4cf1" /><Relationship Type="http://schemas.openxmlformats.org/officeDocument/2006/relationships/notesMaster" Target="/ppt/notesMasters/notesMaster1.xml" Id="Rc66f047a624d4d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20e43bfa24426b" /><Relationship Type="http://schemas.openxmlformats.org/officeDocument/2006/relationships/notesMaster" Target="/ppt/notesMasters/notesMaster1.xml" Id="Rb75f5c0fb1e648e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91e9cc0592148a9" /><Relationship Type="http://schemas.openxmlformats.org/officeDocument/2006/relationships/notesMaster" Target="/ppt/notesMasters/notesMaster1.xml" Id="R972037641020403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38ff0cdb5b24a95" /><Relationship Type="http://schemas.openxmlformats.org/officeDocument/2006/relationships/notesMaster" Target="/ppt/notesMasters/notesMaster1.xml" Id="Rac5bf05722b84d6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37d853b2715400b" /><Relationship Type="http://schemas.openxmlformats.org/officeDocument/2006/relationships/notesMaster" Target="/ppt/notesMasters/notesMaster1.xml" Id="Rc109b995819f45a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5c4ed649e564a3c" /><Relationship Type="http://schemas.openxmlformats.org/officeDocument/2006/relationships/notesMaster" Target="/ppt/notesMasters/notesMaster1.xml" Id="R45a505e5304843b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eff68c1bee0470a" /><Relationship Type="http://schemas.openxmlformats.org/officeDocument/2006/relationships/notesMaster" Target="/ppt/notesMasters/notesMaster1.xml" Id="R211bdb257a4748d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62438ebee5a4192" /><Relationship Type="http://schemas.openxmlformats.org/officeDocument/2006/relationships/notesMaster" Target="/ppt/notesMasters/notesMaster1.xml" Id="Ra153e4be624041f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a5bcd5ada724f07" /><Relationship Type="http://schemas.openxmlformats.org/officeDocument/2006/relationships/notesMaster" Target="/ppt/notesMasters/notesMaster1.xml" Id="Rcf68bb70e3224b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3-tier 웹 실습과 독립된 별도 설명 자료입니다. 이 자료의 관찰 도구는 고정 버전 SQLite 3.53.4로 빌드하며, 웹 서버의 Python 내장 SQLite와 실행 환경이 다릅니다.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동봉한 공식 아카이브를 해시 검증 후 빌드합니다. 웹 실습과 다른 디렉터리와 DB 파일을 사용합니다. 소스 행 번호는 동봉 SQLite 3.53.4 기준입니다.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소스 경로와 행 번호는 동봉한 SQLite 3.53.4 원본 아카이브를 기준으로 합니다. 전체 원본 ZIP도 동봉합니다. 빌드에는 amalgamation sqlite3.c를 사용하고, 읽기는 분리된 src/*.c와 parse.y를 사용합니다. 내용은 같은 릴리스입니다.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prepare.c 950행이 LockAndPrepare, 861행이 Prepare를 호출합니다. SQL 길이 처리 분기에 따라 zSqlCopy 또는 zSql을 RunParser로 보냅니다. 오류, 잠금, 스키마 재시도 분기는 오늘은 위치만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https://www.sqlite.org/c3ref/prepare.html. SQL 소스에 값을 문자열로 치환한 뒤 다시 파싱하는 것이 bind의 본질이 아닙니다. 다만 스키마 변경이나 실행 계획에 영향을 주는 일부 바인딩 변화는 v2 문장의 자동 재준비를 유발할 수 있으므로 준비는 평생 한 번이라고 단정하지 않습니다. SQLite 문법 의미 동작은 구조 생성과 코드 생성을 연결하므로 완전히 분리된 AST 후처리 파이프라인으로만 설명하지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./build/token_probe 명령의 실제 출력 중 일부입니다. 전체 출력 examples/tokenizer.txt 참조. name, student, id는 TK_ID로 분류됩니다. 공백은 TK_SPACE로 나옵니다. 이 관찰 도구는 내부 API를 직접 호출하므로 일반 애플리케이션에 복사하지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sqlite3GetToken은 tokenize.c:273에서 시작합니다. aiClass[*z]를 이용해 첫 문자의 분류에 따라 분기합니다. ?1은 2바이트입니다. :name, @name, $name 같은 이름 매개변수는 인접한 CC_DOLLAR / CC_VARALPHA 분기에서 처리합니다.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sqlite3RunParser는 tokenize.c:600. 전체 루프는 645행부터 시작합니다. 이 슬라이드는 서로 떨어진 실제 줄을 연결한 교육용 발췌이며 생략 주석을 삽입했습니다. 공백을 비롯한 예외 토큰 처리에 주의합니다. 각 바이트를 문자 하나로 간주하면 UTF-8에서 잘못됩니다.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https://www.sqlite.org/lemon.html https://www.sqlite.org/arch.html. Lemon은 SQLite가 사용하는 LALR(1) 파서 생성기입니다. parse.c와 parse.h는 빌드 시 생성되는 파일입니다. 이 실습의 setup.py는 소스 트리 전체의 빌드가 아니라 공식 amalgamation을 컴파일하므로 Lemon 재실행은 필요하지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oneselect는 비단말 기호, SELECT는 단말 토큰입니다. A, D, W 등은 규칙의 의미 값을 참조하는 별칭입니다. 마침표는 Lemon 규칙을 끝냅니다. DML 규칙은 sqlite3Insert, sqlite3Update, sqlite3DeleteFrom 같은 컴파일 동작을 호출합니다. 파싱과 코드 생성의 연결을 함께 보되 세부 VDBE 코드는 다음 시간에 다룹니다.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SQL에서 보통 쓰는 ?1, :name 경로는 if 블록에 들어갑니다. 내부 중첩 파싱용 #N 경로는 설명 대상에서 제외합니다. expr.c:1317의 sqlite3ExprAssignVarNumber를 이어서 찾습니다. 표현식 생성은 값 저장과 다릅니다.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sqlite3ExprAssignVarNumber는 1377행에서 pExpr-&gt;iColumn=x로 번호를 기록합니다. sqlite3_bind_parameter_count는 가장 큰 인덱스를 반환합니다. ?5처럼 구멍이 있는 번호 체계에서 등장 횟수와 다를 수 있으므로, 이 예제는 ?1부터 연속 번호를 사용합니다. https://www.sqlite.org/c3ref/bind_parameter_count.html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sqlite3_bind_int는 1788–1789에서 sqlite3_bind_int64를 호출합니다. 발췌는 의미 없는 선언 일부, assert, 잠금 해제, 반환 및 닫는 부분을 생략했습니다. sqlite3_bind_text는 1838에서 bindText를 호출하고 1718의 p-&gt;aVar[i-1]을 선택합니다. 본 릴리스 UTF-8 경로는 sqlite3VdbeMemSetText를 호출합니다. sqlite3VdbeMemSetStr로만 설명하지 않도록 주의합니다.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tokenize.c:621–628의 SQLITE_ParserTrace 분기를 확인합니다. parser_demo는 스키마 읽기를 먼저 완료하여 추적 잡음을 줄이고, 이후 고정 SELECT 하나를 prepare합니다. syntax/name 명령은 오류를 관찰하는 실험이므로 종료 코드 1이 정상적인 예상 결과입니다. 실제 전체 로그는 examples/parser-*.txt에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examples/parser-ok.txt에서 순서를 유지한 발췌입니다. 중간의 Return.Stack 등 일부 줄과 대부분의 후속 출력을 생략했습니다. 마지막 PREPARE는 예제 프로그램이 출력한 준비 결과입니다. 추적에 Accept라는 단어가 반드시 나온다고 설명하지 않습니다. 이 릴리스의 단일 문장 준비에서는 Popping 이후 성공이 표시됩니다.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syntax 입력의 실제 stderr: near "FROM": syntax error. name 입력의 stderr: no such column: missing_column. Parser가 일부 규칙을 처리했다고 해서 prepare가 성공한 것은 아닙니다. 반환 코드와 오류 메시지를 함께 확인합니다. 두 모드 모두 학생 데이터 변경 없이 종료됩니다.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답안: tokenize.c:504–508, parse.y:1208에서 expr.c:1317을 호출합니다. ?1은 준비 단계의 SQL 토큰이며 2001은 bind_int를 통해 aVar[0]에 저장됩니다. 따옴표를 포함한 UTF-8 문자열 '한글'은 8바이트(한글 6+작은따옴표 2)입니다. 자세한 답안은 README의 확인 질문에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별도 소스 분석 패키지 README.md의 분석 과제를 따릅니다. 3-tier 실습 시간 및 제출물과 분리합니다.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fb989e0c9d4b1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e26dbf6e9a24e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f89f7a87b9945a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0c58e41743644c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d2673f898deb44d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50bd72adde5f482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5c387cc0f1384b1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bb338a75e73f46f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0967b16e69914ab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5e0c3df58c68418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e1b9de11bfd44057" /></Relationships>
</file>

<file path=ppt/slideLayouts/slideLayout1.xml><?xml version="1.0" encoding="utf-8"?>
<p:sldLayout xmlns:p="http://schemas.openxmlformats.org/presentationml/2006/main" type="title" preserve="1">
  <p:cSld name="Orange Cov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4E3F637-3782-4144-8B40-E428E4921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BA3FC48-C9C4-485D-A81A-38B5E255AFB7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title" preserve="1">
  <p:cSld name="Orange Section Divi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F59EFC6-D910-438F-B295-39406B807A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7570AA0-0348-4A32-8129-ACF4EAB7515E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title" preserve="1">
  <p:cSld name="Orang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E9E813D-957C-44AA-ABB4-888034E2B0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AB409907-9E04-49D4-864B-3E73B0211B8B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Orang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6DDB7A4-7851-41D4-9FC1-8660794C6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12A862A-4407-4501-988A-1D745BAD0C3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" preserve="1">
  <p:cSld name="Orange Two 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9B0F43C-AB85-4385-9201-B2B8AEF241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942AF33-2706-412E-97E1-8DD03BBECC35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twoObj" preserve="1">
  <p:cSld name="Orange Two 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A515A3EF-01D8-4CA9-898D-00B9628AB9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ADCC2D99-F3B2-4211-A031-24391495208B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04000" y="1326600"/>
            <a:ext cx="442692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208FBAF-B6BF-4EAB-9F9D-CE6068997578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152680" y="1326600"/>
            <a:ext cx="442692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type="title" preserve="1">
  <p:cSld name="Orange Highl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1A2C4A9-D7FE-42D1-B65A-8716287ECC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2512C59-6F82-48EA-B00F-C42B77039A95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type="twoObj" preserve="1">
  <p:cSld name="Orange Highl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B96E5B6-DCEB-490E-9106-42ADC5F97A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61100C5-3450-43AC-97E5-2F057D2EDC0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04000" y="1326600"/>
            <a:ext cx="442692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9D4A98A9-AA52-4E32-90EB-2B9404C48EF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152680" y="1326600"/>
            <a:ext cx="442692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9.xml><?xml version="1.0" encoding="utf-8"?>
<p:sldLayout xmlns:p="http://schemas.openxmlformats.org/presentationml/2006/main" type="title" preserve="1">
  <p:cSld name="Orange Medi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E518CB7-FA92-4E7B-8234-18BF284459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D4F4301-641E-4E72-9984-8CF7B03A16DF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Orange Medi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08CD498-1182-44FC-8EE3-5C661A78D5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32D327C-CE71-4ADA-8CC6-DE7E0C730527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1FF9FEE3-2D9D-40FF-A81B-13C8516CD23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11.xml><?xml version="1.0" encoding="utf-8"?>
<p:sldLayout xmlns:p="http://schemas.openxmlformats.org/presentationml/2006/main" type="title" preserve="1">
  <p:cSld name="Orange Closin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4C6446D-926E-4B3D-8527-1DA8822367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A1A30D6B-B2B8-47AF-972B-4860F2BDCCBF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041ad80f234c7e" /><Relationship Type="http://schemas.openxmlformats.org/officeDocument/2006/relationships/slideLayout" Target="/ppt/slideLayouts/slideLayout1.xml" Id="R2f61337c7b77423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10f9d98d343148ac" /><Relationship Type="http://schemas.openxmlformats.org/officeDocument/2006/relationships/slideLayout" Target="/ppt/slideLayouts/slideLayout2.xml" Id="R8a8b5eebfcb54997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2037f3db5cd24702" /><Relationship Type="http://schemas.openxmlformats.org/officeDocument/2006/relationships/slideLayout" Target="/ppt/slideLayouts/slideLayout3.xml" Id="R1158a00e05e7471d" /><Relationship Type="http://schemas.openxmlformats.org/officeDocument/2006/relationships/slideLayout" Target="/ppt/slideLayouts/slideLayout4.xml" Id="Rcceeaf80b7cc416f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1ece6b42b40a4791" /><Relationship Type="http://schemas.openxmlformats.org/officeDocument/2006/relationships/slideLayout" Target="/ppt/slideLayouts/slideLayout5.xml" Id="Rc7bc7b6d30fb4487" /><Relationship Type="http://schemas.openxmlformats.org/officeDocument/2006/relationships/slideLayout" Target="/ppt/slideLayouts/slideLayout6.xml" Id="R0ceebf7fb2ef45ea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theme" Target="/ppt/slideMasters/theme/theme6.xml" Id="R476277949221493a" /><Relationship Type="http://schemas.openxmlformats.org/officeDocument/2006/relationships/slideLayout" Target="/ppt/slideLayouts/slideLayout7.xml" Id="R1f2f6396e81c40ab" /><Relationship Type="http://schemas.openxmlformats.org/officeDocument/2006/relationships/slideLayout" Target="/ppt/slideLayouts/slideLayout8.xml" Id="Rb24f4b739fd744b5" /></Relationships>
</file>

<file path=ppt/slideMasters/_rels/slideMaster6.xml.rels>&#65279;<?xml version="1.0" encoding="utf-8"?><Relationships xmlns="http://schemas.openxmlformats.org/package/2006/relationships"><Relationship Type="http://schemas.openxmlformats.org/officeDocument/2006/relationships/theme" Target="/ppt/slideMasters/theme/theme7.xml" Id="R8f8de59cb1f9434e" /><Relationship Type="http://schemas.openxmlformats.org/officeDocument/2006/relationships/slideLayout" Target="/ppt/slideLayouts/slideLayout9.xml" Id="R7c5f360d0c2c48b2" /><Relationship Type="http://schemas.openxmlformats.org/officeDocument/2006/relationships/slideLayout" Target="/ppt/slideLayouts/slideLayout10.xml" Id="R5d8ba644e6f74fa1" /></Relationships>
</file>

<file path=ppt/slideMasters/_rels/slideMaster7.xml.rels>&#65279;<?xml version="1.0" encoding="utf-8"?><Relationships xmlns="http://schemas.openxmlformats.org/package/2006/relationships"><Relationship Type="http://schemas.openxmlformats.org/officeDocument/2006/relationships/theme" Target="/ppt/slideMasters/theme/theme8.xml" Id="R6868c32404f948f7" /><Relationship Type="http://schemas.openxmlformats.org/officeDocument/2006/relationships/slideLayout" Target="/ppt/slideLayouts/slideLayout11.xml" Id="R1dfa955f86a44282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ver-background">
            <a:extLst xmlns:a="http://schemas.openxmlformats.org/drawingml/2006/main">
              <a:ext uri="{FF2B5EF4-FFF2-40B4-BE49-F238E27FC236}">
                <a16:creationId xmlns:a16="http://schemas.microsoft.com/office/drawing/2014/main" id="{22793C0F-6D60-45F0-A653-EF7ED4B1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80000" cy="56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cover-orange-panel">
            <a:extLst xmlns:a="http://schemas.openxmlformats.org/drawingml/2006/main">
              <a:ext uri="{FF2B5EF4-FFF2-40B4-BE49-F238E27FC236}">
                <a16:creationId xmlns:a16="http://schemas.microsoft.com/office/drawing/2014/main" id="{CF29E3A2-5E12-442B-AF78-A1377FAA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000" y="0"/>
            <a:ext cx="2340000" cy="56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cover-accent-edge">
            <a:extLst xmlns:a="http://schemas.openxmlformats.org/drawingml/2006/main">
              <a:ext uri="{FF2B5EF4-FFF2-40B4-BE49-F238E27FC236}">
                <a16:creationId xmlns:a16="http://schemas.microsoft.com/office/drawing/2014/main" id="{EAD8AAD4-8574-431F-9D99-11720495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0800" y="0"/>
            <a:ext cx="79200" cy="56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A74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99C913D-A4D5-4ECA-9516-3AB8E749B5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5B414D7-53C9-4981-BA62-FBDF8BE7B89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61337c7b77423b"/>
  </p:sldLayoutIdLst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divider-background">
            <a:extLst xmlns:a="http://schemas.openxmlformats.org/drawingml/2006/main">
              <a:ext uri="{FF2B5EF4-FFF2-40B4-BE49-F238E27FC236}">
                <a16:creationId xmlns:a16="http://schemas.microsoft.com/office/drawing/2014/main" id="{4C05FD8F-235A-4A2D-828F-1F61F716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80000" cy="56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divider-orange-rail">
            <a:extLst xmlns:a="http://schemas.openxmlformats.org/drawingml/2006/main">
              <a:ext uri="{FF2B5EF4-FFF2-40B4-BE49-F238E27FC236}">
                <a16:creationId xmlns:a16="http://schemas.microsoft.com/office/drawing/2014/main" id="{D4992CCF-9F7A-4503-AE71-13B5C498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92000" cy="56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divider-accent-edge">
            <a:extLst xmlns:a="http://schemas.openxmlformats.org/drawingml/2006/main">
              <a:ext uri="{FF2B5EF4-FFF2-40B4-BE49-F238E27FC236}">
                <a16:creationId xmlns:a16="http://schemas.microsoft.com/office/drawing/2014/main" id="{AF6878D3-3BA3-4E63-9A38-C68D36E2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0"/>
            <a:ext cx="64800" cy="56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A74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2C528C4-742E-4D54-8499-B48E513BB1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68B4B25-ECF7-43AA-9305-D4DFB8C5FAE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8a8b5eebfcb54997"/>
  </p:sldLayoutIdLst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-background">
            <a:extLst xmlns:a="http://schemas.openxmlformats.org/drawingml/2006/main">
              <a:ext uri="{FF2B5EF4-FFF2-40B4-BE49-F238E27FC236}">
                <a16:creationId xmlns:a16="http://schemas.microsoft.com/office/drawing/2014/main" id="{C1B673E8-1D82-4949-B53F-612C0F37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80000" cy="56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op-accent-content">
            <a:extLst xmlns:a="http://schemas.openxmlformats.org/drawingml/2006/main">
              <a:ext uri="{FF2B5EF4-FFF2-40B4-BE49-F238E27FC236}">
                <a16:creationId xmlns:a16="http://schemas.microsoft.com/office/drawing/2014/main" id="{F12642D8-7E2D-4E99-A1D7-3CD205D2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208800"/>
            <a:ext cx="666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-16200" rIns="90000" bIns="-162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footer-rule-content">
            <a:extLst xmlns:a="http://schemas.openxmlformats.org/drawingml/2006/main">
              <a:ext uri="{FF2B5EF4-FFF2-40B4-BE49-F238E27FC236}">
                <a16:creationId xmlns:a16="http://schemas.microsoft.com/office/drawing/2014/main" id="{779DAFCC-AFC8-465B-B68F-843359C1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5407200"/>
            <a:ext cx="92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00">
            <a:solidFill>
              <a:srgbClr val="B8BCC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4520" tIns="-29520" rIns="74520" bIns="-295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9E2E077-2C1A-4ADD-AA49-EE082FECF8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BB5A0B5-3D49-4680-954A-18E67700D49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3" r:id="R1158a00e05e7471d"/>
    <p:sldLayoutId xmlns:r="http://schemas.openxmlformats.org/officeDocument/2006/relationships" id="2147483654" r:id="Rcceeaf80b7cc416f"/>
  </p:sldLayoutIdLst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columns-background">
            <a:extLst xmlns:a="http://schemas.openxmlformats.org/drawingml/2006/main">
              <a:ext uri="{FF2B5EF4-FFF2-40B4-BE49-F238E27FC236}">
                <a16:creationId xmlns:a16="http://schemas.microsoft.com/office/drawing/2014/main" id="{1FB33944-B279-4507-AD32-9565B239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80000" cy="56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top-accent-columns">
            <a:extLst xmlns:a="http://schemas.openxmlformats.org/drawingml/2006/main">
              <a:ext uri="{FF2B5EF4-FFF2-40B4-BE49-F238E27FC236}">
                <a16:creationId xmlns:a16="http://schemas.microsoft.com/office/drawing/2014/main" id="{09DAAC21-2E81-4D37-889B-85D64F9B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208800"/>
            <a:ext cx="666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-16200" rIns="90000" bIns="-162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footer-rule-columns">
            <a:extLst xmlns:a="http://schemas.openxmlformats.org/drawingml/2006/main">
              <a:ext uri="{FF2B5EF4-FFF2-40B4-BE49-F238E27FC236}">
                <a16:creationId xmlns:a16="http://schemas.microsoft.com/office/drawing/2014/main" id="{B3A9351A-4955-46A9-9EC6-3652DA05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5407200"/>
            <a:ext cx="92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00">
            <a:solidFill>
              <a:srgbClr val="B8BCC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4520" tIns="-29520" rIns="74520" bIns="-295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columns-divider">
            <a:extLst xmlns:a="http://schemas.openxmlformats.org/drawingml/2006/main">
              <a:ext uri="{FF2B5EF4-FFF2-40B4-BE49-F238E27FC236}">
                <a16:creationId xmlns:a16="http://schemas.microsoft.com/office/drawing/2014/main" id="{C80F8017-C487-41BE-9D9C-F53596FC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0" y="1494000"/>
            <a:ext cx="0" cy="34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00">
            <a:solidFill>
              <a:srgbClr val="B8BCC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4520" tIns="29520" rIns="74520" bIns="295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E1A6A0B-E2C0-4E7A-8A02-61B56C78A2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3C18AB5-AABE-4A4B-B0FA-8BF0B96F8708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c7bc7b6d30fb4487"/>
    <p:sldLayoutId xmlns:r="http://schemas.openxmlformats.org/officeDocument/2006/relationships" id="2147483657" r:id="R0ceebf7fb2ef45ea"/>
  </p:sldLayoutIdLst>
</p:sldMaster>
</file>

<file path=ppt/slideMasters/slideMaster5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highlight-background">
            <a:extLst xmlns:a="http://schemas.openxmlformats.org/drawingml/2006/main">
              <a:ext uri="{FF2B5EF4-FFF2-40B4-BE49-F238E27FC236}">
                <a16:creationId xmlns:a16="http://schemas.microsoft.com/office/drawing/2014/main" id="{E4AAB080-E0DC-4F3D-9183-051A73B5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80000" cy="56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top-accent-highlight">
            <a:extLst xmlns:a="http://schemas.openxmlformats.org/drawingml/2006/main">
              <a:ext uri="{FF2B5EF4-FFF2-40B4-BE49-F238E27FC236}">
                <a16:creationId xmlns:a16="http://schemas.microsoft.com/office/drawing/2014/main" id="{AE09433D-2791-4D97-9B2A-92C32C83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208800"/>
            <a:ext cx="666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-16200" rIns="90000" bIns="-162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footer-rule-highlight">
            <a:extLst xmlns:a="http://schemas.openxmlformats.org/drawingml/2006/main">
              <a:ext uri="{FF2B5EF4-FFF2-40B4-BE49-F238E27FC236}">
                <a16:creationId xmlns:a16="http://schemas.microsoft.com/office/drawing/2014/main" id="{9769360F-4A17-48AB-851D-836609FB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5407200"/>
            <a:ext cx="92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00">
            <a:solidFill>
              <a:srgbClr val="B8BCC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4520" tIns="-29520" rIns="74520" bIns="-295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highlight-band">
            <a:extLst xmlns:a="http://schemas.openxmlformats.org/drawingml/2006/main">
              <a:ext uri="{FF2B5EF4-FFF2-40B4-BE49-F238E27FC236}">
                <a16:creationId xmlns:a16="http://schemas.microsoft.com/office/drawing/2014/main" id="{B10C6840-8993-4074-BFDE-93CEA1AC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1458000"/>
            <a:ext cx="9216000" cy="59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A74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1DC323C-0A6F-4046-BD1D-3C50813C6E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4DD3A89-EE81-4A75-99A4-34F57801E33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9" r:id="R1f2f6396e81c40ab"/>
    <p:sldLayoutId xmlns:r="http://schemas.openxmlformats.org/officeDocument/2006/relationships" id="2147483660" r:id="Rb24f4b739fd744b5"/>
  </p:sldLayoutIdLst>
</p:sldMaster>
</file>

<file path=ppt/slideMasters/slideMaster6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media-background">
            <a:extLst xmlns:a="http://schemas.openxmlformats.org/drawingml/2006/main">
              <a:ext uri="{FF2B5EF4-FFF2-40B4-BE49-F238E27FC236}">
                <a16:creationId xmlns:a16="http://schemas.microsoft.com/office/drawing/2014/main" id="{DD4D0183-23D8-4BCD-A6F6-82AB03B7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80000" cy="56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top-accent-media">
            <a:extLst xmlns:a="http://schemas.openxmlformats.org/drawingml/2006/main">
              <a:ext uri="{FF2B5EF4-FFF2-40B4-BE49-F238E27FC236}">
                <a16:creationId xmlns:a16="http://schemas.microsoft.com/office/drawing/2014/main" id="{7277C34F-5D3F-464F-B834-6F966623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208800"/>
            <a:ext cx="666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-16200" rIns="90000" bIns="-162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footer-rule-media">
            <a:extLst xmlns:a="http://schemas.openxmlformats.org/drawingml/2006/main">
              <a:ext uri="{FF2B5EF4-FFF2-40B4-BE49-F238E27FC236}">
                <a16:creationId xmlns:a16="http://schemas.microsoft.com/office/drawing/2014/main" id="{A842EF44-4DD7-4395-8097-217CF73D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5407200"/>
            <a:ext cx="92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00">
            <a:solidFill>
              <a:srgbClr val="B8BCC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4520" tIns="-29520" rIns="74520" bIns="-295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media-frame">
            <a:extLst xmlns:a="http://schemas.openxmlformats.org/drawingml/2006/main">
              <a:ext uri="{FF2B5EF4-FFF2-40B4-BE49-F238E27FC236}">
                <a16:creationId xmlns:a16="http://schemas.microsoft.com/office/drawing/2014/main" id="{67CF84BA-7E87-480D-B41D-C511D572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2000" y="1476000"/>
            <a:ext cx="4356000" cy="340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FF2"/>
          </a:solidFill>
          <a:ln xmlns:a="http://schemas.openxmlformats.org/drawingml/2006/main" w="9000">
            <a:solidFill>
              <a:srgbClr val="B8BCC4"/>
            </a:solidFill>
          </a:ln>
        </p:spPr>
        <p:txBody>
          <a:bodyPr xmlns:a="http://schemas.openxmlformats.org/drawingml/2006/main" lIns="75600" tIns="30600" rIns="75600" bIns="306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media-frame-accent">
            <a:extLst xmlns:a="http://schemas.openxmlformats.org/drawingml/2006/main">
              <a:ext uri="{FF2B5EF4-FFF2-40B4-BE49-F238E27FC236}">
                <a16:creationId xmlns:a16="http://schemas.microsoft.com/office/drawing/2014/main" id="{BDCB3DED-502A-4263-B981-D0DF36C2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2000" y="1476000"/>
            <a:ext cx="4356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-1800" rIns="90000" bIns="-18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785F8DA-7B47-464A-8289-8850D96886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DDDDE27-B365-4C18-BF24-97324B72E86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2" r:id="R7c5f360d0c2c48b2"/>
    <p:sldLayoutId xmlns:r="http://schemas.openxmlformats.org/officeDocument/2006/relationships" id="2147483663" r:id="R5d8ba644e6f74fa1"/>
  </p:sldLayoutIdLst>
</p:sldMaster>
</file>

<file path=ppt/slideMasters/slideMaster7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closing-background">
            <a:extLst xmlns:a="http://schemas.openxmlformats.org/drawingml/2006/main">
              <a:ext uri="{FF2B5EF4-FFF2-40B4-BE49-F238E27FC236}">
                <a16:creationId xmlns:a16="http://schemas.microsoft.com/office/drawing/2014/main" id="{9B8EB170-F073-4BAD-A4E1-4B888870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80000" cy="56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closing-corner">
            <a:extLst xmlns:a="http://schemas.openxmlformats.org/drawingml/2006/main">
              <a:ext uri="{FF2B5EF4-FFF2-40B4-BE49-F238E27FC236}">
                <a16:creationId xmlns:a16="http://schemas.microsoft.com/office/drawing/2014/main" id="{BFD24C45-1883-42FB-B28D-176E5327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000" y="0"/>
            <a:ext cx="1260000" cy="37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closing-accent">
            <a:extLst xmlns:a="http://schemas.openxmlformats.org/drawingml/2006/main">
              <a:ext uri="{FF2B5EF4-FFF2-40B4-BE49-F238E27FC236}">
                <a16:creationId xmlns:a16="http://schemas.microsoft.com/office/drawing/2014/main" id="{6E6347CF-C212-488A-9D47-D2122933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000" y="0"/>
            <a:ext cx="1116000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A74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19800" rIns="90000" bIns="198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4E5B624E-4A7A-4D87-9A95-1A6748A3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5346000"/>
            <a:ext cx="92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00">
            <a:solidFill>
              <a:srgbClr val="B8BCC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4520" tIns="-29520" rIns="74520" bIns="-295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0A9E4FEB-01E5-40BE-8A36-676FF8A7AE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ACBA43B4-5188-4510-831D-57345685738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5" r:id="R1dfa955f86a44282"/>
  </p:sldLayoutIdLst>
</p:sldMaster>
</file>

<file path=ppt/slideMasters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5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6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7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8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e1aeb19df4518" /><Relationship Type="http://schemas.openxmlformats.org/officeDocument/2006/relationships/notesSlide" Target="/ppt/notesSlides/notesSlide1.xml" Id="R25924006b1a941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12f49dd009042af" /><Relationship Type="http://schemas.openxmlformats.org/officeDocument/2006/relationships/notesSlide" Target="/ppt/notesSlides/notesSlide2.xml" Id="R507cca73d7bb4e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1906fb2e58d4281" /><Relationship Type="http://schemas.openxmlformats.org/officeDocument/2006/relationships/notesSlide" Target="/ppt/notesSlides/notesSlide3.xml" Id="Rb7274eee230245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7b1abe612d541ac" /><Relationship Type="http://schemas.openxmlformats.org/officeDocument/2006/relationships/notesSlide" Target="/ppt/notesSlides/notesSlide4.xml" Id="R87f866ad78bc4d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c28f59353df4616" /><Relationship Type="http://schemas.openxmlformats.org/officeDocument/2006/relationships/notesSlide" Target="/ppt/notesSlides/notesSlide5.xml" Id="Rdbfce85920df4b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f7dcb53d516452d" /><Relationship Type="http://schemas.openxmlformats.org/officeDocument/2006/relationships/notesSlide" Target="/ppt/notesSlides/notesSlide6.xml" Id="Rcf1c0ffa122741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b872ddaa825444e" /><Relationship Type="http://schemas.openxmlformats.org/officeDocument/2006/relationships/notesSlide" Target="/ppt/notesSlides/notesSlide7.xml" Id="R835e430dcadd40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0cfe128f4ab43d9" /><Relationship Type="http://schemas.openxmlformats.org/officeDocument/2006/relationships/notesSlide" Target="/ppt/notesSlides/notesSlide8.xml" Id="R77330a8bacf44a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46b57907ba2432f" /><Relationship Type="http://schemas.openxmlformats.org/officeDocument/2006/relationships/notesSlide" Target="/ppt/notesSlides/notesSlide9.xml" Id="Rf897b0ad09b440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0c7c79d112c43c0" /><Relationship Type="http://schemas.openxmlformats.org/officeDocument/2006/relationships/notesSlide" Target="/ppt/notesSlides/notesSlide10.xml" Id="Rd8b3237609fd47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e458558d4e54415" /><Relationship Type="http://schemas.openxmlformats.org/officeDocument/2006/relationships/notesSlide" Target="/ppt/notesSlides/notesSlide11.xml" Id="Ra181c646fd2743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a8b6f6eb1a24fa2" /><Relationship Type="http://schemas.openxmlformats.org/officeDocument/2006/relationships/notesSlide" Target="/ppt/notesSlides/notesSlide12.xml" Id="R9b21c4f07f8b42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a17070825724f97" /><Relationship Type="http://schemas.openxmlformats.org/officeDocument/2006/relationships/notesSlide" Target="/ppt/notesSlides/notesSlide13.xml" Id="R54c381cae898464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c085ea2a9d84c0f" /><Relationship Type="http://schemas.openxmlformats.org/officeDocument/2006/relationships/notesSlide" Target="/ppt/notesSlides/notesSlide14.xml" Id="Rfab3f212386e415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7a22885bb9e460b" /><Relationship Type="http://schemas.openxmlformats.org/officeDocument/2006/relationships/notesSlide" Target="/ppt/notesSlides/notesSlide15.xml" Id="R8f73d392754f415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4ac9d3bb0784c95" /><Relationship Type="http://schemas.openxmlformats.org/officeDocument/2006/relationships/notesSlide" Target="/ppt/notesSlides/notesSlide16.xml" Id="Rd0301d6427454dd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8c0a95ad4b54250" /><Relationship Type="http://schemas.openxmlformats.org/officeDocument/2006/relationships/notesSlide" Target="/ppt/notesSlides/notesSlide17.xml" Id="Re52e0ac00bf34fd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1a3b47caf514663" /><Relationship Type="http://schemas.openxmlformats.org/officeDocument/2006/relationships/notesSlide" Target="/ppt/notesSlides/notesSlide18.xml" Id="R23522e46cb9a47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8F19FB3-23F3-4FBF-952E-2A576F1343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8000" y="1440000"/>
            <a:ext cx="6768000" cy="12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1B891A0-5847-4A7B-8FB2-1C34855F9470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468000" y="2934000"/>
            <a:ext cx="6552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4B534197-D8F6-42E0-A964-34841F4F95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74000" y="1132560"/>
            <a:ext cx="1872000" cy="1875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AFBFB8F1-00AF-4AB1-9294-CDCB4E674B67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7974000" y="4260240"/>
            <a:ext cx="1872000" cy="91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title">
            <a:extLst xmlns:a="http://schemas.openxmlformats.org/drawingml/2006/main">
              <a:ext uri="{FF2B5EF4-FFF2-40B4-BE49-F238E27FC236}">
                <a16:creationId xmlns:a16="http://schemas.microsoft.com/office/drawing/2014/main" id="{A3AED75E-B282-411E-9CD0-4BFF52EB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438275"/>
            <a:ext cx="70008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00" b="1">
                <a:solidFill>
                  <a:srgbClr val="10121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700" b="1">
                <a:solidFill>
                  <a:srgbClr val="101216"/>
                </a:solidFill>
                <a:latin typeface="Noto Sans CJK KR"/>
                <a:ea typeface="Noto Sans CJK KR"/>
                <a:cs typeface="Noto Sans CJK KR"/>
              </a:rPr>
              <a:t>SQLite Parser</a:t>
            </a:r>
          </a:p>
          <a:p xmlns:a="http://schemas.openxmlformats.org/drawingml/2006/main">
            <a:pPr algn="l">
              <a:defRPr sz="3700" b="1">
                <a:solidFill>
                  <a:srgbClr val="10121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700" b="1">
                <a:solidFill>
                  <a:srgbClr val="101216"/>
                </a:solidFill>
                <a:latin typeface="Noto Sans CJK KR"/>
                <a:ea typeface="Noto Sans CJK KR"/>
                <a:cs typeface="Noto Sans CJK KR"/>
              </a:rPr>
              <a:t>소스 분석</a:t>
            </a:r>
          </a:p>
        </p:txBody>
      </p:sp>
      <p:sp>
        <p:nvSpPr>
          <p:cNvPr id="72" name="subtitle">
            <a:extLst xmlns:a="http://schemas.openxmlformats.org/drawingml/2006/main">
              <a:ext uri="{FF2B5EF4-FFF2-40B4-BE49-F238E27FC236}">
                <a16:creationId xmlns:a16="http://schemas.microsoft.com/office/drawing/2014/main" id="{09F7DD92-66EC-4531-B13E-DC7384E6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105150"/>
            <a:ext cx="681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토큰 · 문법 규칙 · 이름 해석 · 매개변수</a:t>
            </a:r>
          </a:p>
        </p:txBody>
      </p:sp>
      <p:sp>
        <p:nvSpPr>
          <p:cNvPr id="73" name="metadata">
            <a:extLst xmlns:a="http://schemas.openxmlformats.org/drawingml/2006/main">
              <a:ext uri="{FF2B5EF4-FFF2-40B4-BE49-F238E27FC236}">
                <a16:creationId xmlns:a16="http://schemas.microsoft.com/office/drawing/2014/main" id="{B25841E3-ECE2-4BEA-9845-B192027E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095750"/>
            <a:ext cx="676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0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데이터베이스</a:t>
            </a:r>
          </a:p>
          <a:p xmlns:a="http://schemas.openxmlformats.org/drawingml/2006/main">
            <a:pPr algn="l">
              <a:defRPr sz="190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0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1분반 9/18 · 2분반 9/17</a:t>
            </a:r>
          </a:p>
        </p:txBody>
      </p:sp>
      <p:sp>
        <p:nvSpPr>
          <p:cNvPr id="74" name="week-number">
            <a:extLst xmlns:a="http://schemas.openxmlformats.org/drawingml/2006/main">
              <a:ext uri="{FF2B5EF4-FFF2-40B4-BE49-F238E27FC236}">
                <a16:creationId xmlns:a16="http://schemas.microsoft.com/office/drawing/2014/main" id="{47416671-4151-4B65-B283-8AF19CDC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16383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75" name="right-label">
            <a:extLst xmlns:a="http://schemas.openxmlformats.org/drawingml/2006/main">
              <a:ext uri="{FF2B5EF4-FFF2-40B4-BE49-F238E27FC236}">
                <a16:creationId xmlns:a16="http://schemas.microsoft.com/office/drawing/2014/main" id="{7AF4F76F-0816-4681-A54A-C3F43C8A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38625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SQLite</a:t>
            </a:r>
          </a:p>
          <a:p xmlns:a="http://schemas.openxmlformats.org/drawingml/2006/main">
            <a:pPr algn="l">
              <a:defRPr sz="22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소스 분석</a:t>
            </a:r>
          </a:p>
        </p:txBody>
      </p:sp>
      <p:sp>
        <p:nvSpPr>
          <p:cNvPr id="76" name="footer">
            <a:extLst xmlns:a="http://schemas.openxmlformats.org/drawingml/2006/main">
              <a:ext uri="{FF2B5EF4-FFF2-40B4-BE49-F238E27FC236}">
                <a16:creationId xmlns:a16="http://schemas.microsoft.com/office/drawing/2014/main" id="{6BC93E65-6933-406D-8783-C167D256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소스코드 분석</a:t>
            </a:r>
          </a:p>
        </p:txBody>
      </p:sp>
      <p:sp>
        <p:nvSpPr>
          <p:cNvPr id="77" name="page">
            <a:extLst xmlns:a="http://schemas.openxmlformats.org/drawingml/2006/main">
              <a:ext uri="{FF2B5EF4-FFF2-40B4-BE49-F238E27FC236}">
                <a16:creationId xmlns:a16="http://schemas.microsoft.com/office/drawing/2014/main" id="{CF719A5B-C0DD-4628-9854-BC99C705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01 / 18</a:t>
            </a:r>
          </a:p>
        </p:txBody>
      </p:sp>
    </p:spTree>
    <p:extLst>
      <p:ext uri="{BB962C8B-B14F-4D97-AF65-F5344CB8AC3E}">
        <p14:creationId xmlns:p14="http://schemas.microsoft.com/office/powerpoint/2010/main" val="17223538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D5F4B81-4F9C-4F5D-9468-450028283F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9DA6290-7927-4937-BFBD-F6EF8B1C532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BD2AB31C-0ACB-4245-B317-B9BD3E88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분석 환경과 실행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347B1EC4-DBE0-45EC-8214-A5B08CC2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별도 Parser 패키지에서 실행합니다.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90AACD1D-D422-42F3-8147-8FDA0364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009775"/>
            <a:ext cx="92202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python3 setup.py</a:t>
            </a:r>
          </a:p>
          <a:p xmlns:a="http://schemas.openxmlformats.org/drawingml/2006/main">
            <a:pPr algn="l">
              <a:defRPr sz="18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./build/token_probe</a:t>
            </a:r>
          </a:p>
          <a:p xmlns:a="http://schemas.openxmlformats.org/drawingml/2006/main">
            <a:pPr algn="l">
              <a:defRPr sz="18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./build/student_lab data/week3.db parser ok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E5979CF9-08A2-46AA-8B98-283DD865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Python 3.10 이상과 C 컴파일러 cc가 필요합니다.</a:t>
            </a:r>
          </a:p>
        </p:txBody>
      </p:sp>
      <p:sp>
        <p:nvSpPr>
          <p:cNvPr id="79" name="foot">
            <a:extLst xmlns:a="http://schemas.openxmlformats.org/drawingml/2006/main">
              <a:ext uri="{FF2B5EF4-FFF2-40B4-BE49-F238E27FC236}">
                <a16:creationId xmlns:a16="http://schemas.microsoft.com/office/drawing/2014/main" id="{E7B19D82-8D80-4E30-AB4D-892D4DB1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0101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지원 환경: macOS, Linux, Windows WSL</a:t>
            </a:r>
          </a:p>
        </p:txBody>
      </p:sp>
      <p:sp>
        <p:nvSpPr>
          <p:cNvPr id="80" name="footer">
            <a:extLst xmlns:a="http://schemas.openxmlformats.org/drawingml/2006/main">
              <a:ext uri="{FF2B5EF4-FFF2-40B4-BE49-F238E27FC236}">
                <a16:creationId xmlns:a16="http://schemas.microsoft.com/office/drawing/2014/main" id="{17BB0184-7AF0-4307-9894-908D85B1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소스코드 분석</a:t>
            </a:r>
          </a:p>
        </p:txBody>
      </p:sp>
      <p:sp>
        <p:nvSpPr>
          <p:cNvPr id="81" name="page">
            <a:extLst xmlns:a="http://schemas.openxmlformats.org/drawingml/2006/main">
              <a:ext uri="{FF2B5EF4-FFF2-40B4-BE49-F238E27FC236}">
                <a16:creationId xmlns:a16="http://schemas.microsoft.com/office/drawing/2014/main" id="{08F4C9C5-FBB3-40C6-A7CA-CB3F8590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02 / 18</a:t>
            </a:r>
          </a:p>
        </p:txBody>
      </p:sp>
    </p:spTree>
    <p:extLst>
      <p:ext uri="{BB962C8B-B14F-4D97-AF65-F5344CB8AC3E}">
        <p14:creationId xmlns:p14="http://schemas.microsoft.com/office/powerpoint/2010/main" val="3405557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D5F4B81-4F9C-4F5D-9468-450028283F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9DA6290-7927-4937-BFBD-F6EF8B1C532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FCA2316B-27D9-4451-AF05-1801F776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분석할 소스 파일</a:t>
            </a:r>
          </a:p>
        </p:txBody>
      </p:sp>
      <p:graphicFrame>
        <p:nvGraphicFramePr>
          <p:cNvPr id="83" name=""/>
          <p:cNvGraphicFramePr/>
          <p:nvPr/>
        </p:nvGraphicFramePr>
        <p:xfrm>
          <a:off xmlns:a="http://schemas.openxmlformats.org/drawingml/2006/main" x="431959" y="1514475"/>
          <a:ext xmlns:a="http://schemas.openxmlformats.org/drawingml/2006/main" cx="9210675" cy="3048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38500"/>
                <a:gridCol w="5972175"/>
              </a:tblGrid>
              <a:tr h="5080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파일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이번 시간의 관찰 지점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</a:tr>
              <a:tr h="5080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src/prepare.c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공개 prepare API에서 파서까지의 호출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src/tokenize.c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토큰 추출과 Parser에 전달하는 반복문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src/parse.y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Lemon 문법 규칙과 C 의미 동작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src/expr.c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매개변수의 번호 결정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src/vdbeapi.c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바인딩 값을 실제로 저장하는 위치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7" name="foot">
            <a:extLst xmlns:a="http://schemas.openxmlformats.org/drawingml/2006/main">
              <a:ext uri="{FF2B5EF4-FFF2-40B4-BE49-F238E27FC236}">
                <a16:creationId xmlns:a16="http://schemas.microsoft.com/office/drawing/2014/main" id="{C4014DCC-AC31-4467-9AA3-4D8A3D72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0101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경로 기준: vendor/sqlite-src-3530400/</a:t>
            </a:r>
          </a:p>
        </p:txBody>
      </p:sp>
      <p:sp>
        <p:nvSpPr>
          <p:cNvPr id="78" name="footer">
            <a:extLst xmlns:a="http://schemas.openxmlformats.org/drawingml/2006/main">
              <a:ext uri="{FF2B5EF4-FFF2-40B4-BE49-F238E27FC236}">
                <a16:creationId xmlns:a16="http://schemas.microsoft.com/office/drawing/2014/main" id="{97B912B8-0A59-44E3-883A-A1D322DC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소스코드 분석</a:t>
            </a:r>
          </a:p>
        </p:txBody>
      </p:sp>
      <p:sp>
        <p:nvSpPr>
          <p:cNvPr id="79" name="page">
            <a:extLst xmlns:a="http://schemas.openxmlformats.org/drawingml/2006/main">
              <a:ext uri="{FF2B5EF4-FFF2-40B4-BE49-F238E27FC236}">
                <a16:creationId xmlns:a16="http://schemas.microsoft.com/office/drawing/2014/main" id="{B3E669C5-F742-47FD-99CD-B807CB63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03 / 18</a:t>
            </a:r>
          </a:p>
        </p:txBody>
      </p:sp>
    </p:spTree>
    <p:extLst>
      <p:ext uri="{BB962C8B-B14F-4D97-AF65-F5344CB8AC3E}">
        <p14:creationId xmlns:p14="http://schemas.microsoft.com/office/powerpoint/2010/main" val="3405557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D5F4B81-4F9C-4F5D-9468-450028283F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9DA6290-7927-4937-BFBD-F6EF8B1C532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9FB0CE9E-AB1F-42F7-9962-E253999D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prepare에서 Parser까지</a:t>
            </a:r>
          </a:p>
        </p:txBody>
      </p:sp>
      <p:graphicFrame>
        <p:nvGraphicFramePr>
          <p:cNvPr id="83" name=""/>
          <p:cNvGraphicFramePr/>
          <p:nvPr/>
        </p:nvGraphicFramePr>
        <p:xfrm>
          <a:off xmlns:a="http://schemas.openxmlformats.org/drawingml/2006/main" x="431959" y="1514475"/>
          <a:ext xmlns:a="http://schemas.openxmlformats.org/drawingml/2006/main" cx="9210675" cy="3048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5238750"/>
                <a:gridCol w="2924175"/>
              </a:tblGrid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순서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함수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파일과 시작 행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</a:tr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sqlite3_prepare_v2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prepare.c:937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sqlite3LockAndPrepare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prepare.c:836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sqlite3Prepare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prepare.c:682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sqlite3RunParser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tokenize.c:600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7" name="foot">
            <a:extLst xmlns:a="http://schemas.openxmlformats.org/drawingml/2006/main">
              <a:ext uri="{FF2B5EF4-FFF2-40B4-BE49-F238E27FC236}">
                <a16:creationId xmlns:a16="http://schemas.microsoft.com/office/drawing/2014/main" id="{D36D9618-52D2-4178-88BD-9B797797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0101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sqlite3Prepare 안의 779행 또는 786행에서 sqlite3RunParser를 호출합니다.</a:t>
            </a:r>
          </a:p>
        </p:txBody>
      </p:sp>
      <p:sp>
        <p:nvSpPr>
          <p:cNvPr id="78" name="footer">
            <a:extLst xmlns:a="http://schemas.openxmlformats.org/drawingml/2006/main">
              <a:ext uri="{FF2B5EF4-FFF2-40B4-BE49-F238E27FC236}">
                <a16:creationId xmlns:a16="http://schemas.microsoft.com/office/drawing/2014/main" id="{9A2658DC-55A7-4B02-9A5F-E6C80628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소스코드 분석</a:t>
            </a:r>
          </a:p>
        </p:txBody>
      </p:sp>
      <p:sp>
        <p:nvSpPr>
          <p:cNvPr id="79" name="page">
            <a:extLst xmlns:a="http://schemas.openxmlformats.org/drawingml/2006/main">
              <a:ext uri="{FF2B5EF4-FFF2-40B4-BE49-F238E27FC236}">
                <a16:creationId xmlns:a16="http://schemas.microsoft.com/office/drawing/2014/main" id="{1CA16395-493C-4DED-8E25-E3B9F8CF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04 / 18</a:t>
            </a:r>
          </a:p>
        </p:txBody>
      </p:sp>
    </p:spTree>
    <p:extLst>
      <p:ext uri="{BB962C8B-B14F-4D97-AF65-F5344CB8AC3E}">
        <p14:creationId xmlns:p14="http://schemas.microsoft.com/office/powerpoint/2010/main" val="3405557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D5F4B81-4F9C-4F5D-9468-450028283F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9DA6290-7927-4937-BFBD-F6EF8B1C532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C171F18A-BA68-47B4-B723-F24A1986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컴파일과 실행의 구분</a:t>
            </a:r>
          </a:p>
        </p:txBody>
      </p:sp>
      <p:sp>
        <p:nvSpPr>
          <p:cNvPr id="76" name="item-0-label">
            <a:extLst xmlns:a="http://schemas.openxmlformats.org/drawingml/2006/main">
              <a:ext uri="{FF2B5EF4-FFF2-40B4-BE49-F238E27FC236}">
                <a16:creationId xmlns:a16="http://schemas.microsoft.com/office/drawing/2014/main" id="{43593763-8A3B-4DA6-AC05-D612519B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495425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prepare 시점</a:t>
            </a:r>
          </a:p>
        </p:txBody>
      </p:sp>
      <p:sp>
        <p:nvSpPr>
          <p:cNvPr id="77" name="item-0-body">
            <a:extLst xmlns:a="http://schemas.openxmlformats.org/drawingml/2006/main">
              <a:ext uri="{FF2B5EF4-FFF2-40B4-BE49-F238E27FC236}">
                <a16:creationId xmlns:a16="http://schemas.microsoft.com/office/drawing/2014/main" id="{505FB1BB-451D-4C48-BCDC-0269131F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838325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토큰화, 문법 처리, 이름 해석과 실행 코드 준비를 수행합니다.</a:t>
            </a:r>
          </a:p>
        </p:txBody>
      </p:sp>
      <p:sp>
        <p:nvSpPr>
          <p:cNvPr id="78" name="item-1-label">
            <a:extLst xmlns:a="http://schemas.openxmlformats.org/drawingml/2006/main">
              <a:ext uri="{FF2B5EF4-FFF2-40B4-BE49-F238E27FC236}">
                <a16:creationId xmlns:a16="http://schemas.microsoft.com/office/drawing/2014/main" id="{D3E34BED-D731-4E6A-B35A-B9CD57CB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5717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bind 시점</a:t>
            </a:r>
          </a:p>
        </p:txBody>
      </p:sp>
      <p:sp>
        <p:nvSpPr>
          <p:cNvPr id="79" name="item-1-body">
            <a:extLst xmlns:a="http://schemas.openxmlformats.org/drawingml/2006/main">
              <a:ext uri="{FF2B5EF4-FFF2-40B4-BE49-F238E27FC236}">
                <a16:creationId xmlns:a16="http://schemas.microsoft.com/office/drawing/2014/main" id="{A556D542-E439-4A90-A88A-833AA454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914650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준비된 문장의 매개변수 저장소에 값을 넣습니다.</a:t>
            </a:r>
          </a:p>
        </p:txBody>
      </p:sp>
      <p:sp>
        <p:nvSpPr>
          <p:cNvPr id="80" name="item-2-label">
            <a:extLst xmlns:a="http://schemas.openxmlformats.org/drawingml/2006/main">
              <a:ext uri="{FF2B5EF4-FFF2-40B4-BE49-F238E27FC236}">
                <a16:creationId xmlns:a16="http://schemas.microsoft.com/office/drawing/2014/main" id="{7FB5E706-9D2F-4D40-95A8-C65D8B01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3648075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step 시점</a:t>
            </a:r>
          </a:p>
        </p:txBody>
      </p:sp>
      <p:sp>
        <p:nvSpPr>
          <p:cNvPr id="81" name="item-2-body">
            <a:extLst xmlns:a="http://schemas.openxmlformats.org/drawingml/2006/main">
              <a:ext uri="{FF2B5EF4-FFF2-40B4-BE49-F238E27FC236}">
                <a16:creationId xmlns:a16="http://schemas.microsoft.com/office/drawing/2014/main" id="{DEA179BF-2FEC-44A2-A8CB-893632A0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3990975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준비된 문장을 실행하여 결과 행 또는 완료 상태를 얻습니다.</a:t>
            </a:r>
          </a:p>
        </p:txBody>
      </p:sp>
      <p:sp>
        <p:nvSpPr>
          <p:cNvPr id="82" name="foot">
            <a:extLst xmlns:a="http://schemas.openxmlformats.org/drawingml/2006/main">
              <a:ext uri="{FF2B5EF4-FFF2-40B4-BE49-F238E27FC236}">
                <a16:creationId xmlns:a16="http://schemas.microsoft.com/office/drawing/2014/main" id="{5B57EBFA-3906-4E55-951D-AC100CF0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0101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v2 문장은 스키마 변경 등의 조건에서 step 중 자동 재컴파일될 수 있습니다.</a:t>
            </a:r>
          </a:p>
        </p:txBody>
      </p:sp>
      <p:sp>
        <p:nvSpPr>
          <p:cNvPr id="83" name="footer">
            <a:extLst xmlns:a="http://schemas.openxmlformats.org/drawingml/2006/main">
              <a:ext uri="{FF2B5EF4-FFF2-40B4-BE49-F238E27FC236}">
                <a16:creationId xmlns:a16="http://schemas.microsoft.com/office/drawing/2014/main" id="{8191C98A-26EE-46AB-8246-D3543143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소스코드 분석</a:t>
            </a:r>
          </a:p>
        </p:txBody>
      </p:sp>
      <p:sp>
        <p:nvSpPr>
          <p:cNvPr id="84" name="page">
            <a:extLst xmlns:a="http://schemas.openxmlformats.org/drawingml/2006/main">
              <a:ext uri="{FF2B5EF4-FFF2-40B4-BE49-F238E27FC236}">
                <a16:creationId xmlns:a16="http://schemas.microsoft.com/office/drawing/2014/main" id="{1BF72330-3F3F-4D60-98BD-E7796A2E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05 / 18</a:t>
            </a:r>
          </a:p>
        </p:txBody>
      </p:sp>
    </p:spTree>
    <p:extLst>
      <p:ext uri="{BB962C8B-B14F-4D97-AF65-F5344CB8AC3E}">
        <p14:creationId xmlns:p14="http://schemas.microsoft.com/office/powerpoint/2010/main" val="3405557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D5F4B81-4F9C-4F5D-9468-450028283F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9DA6290-7927-4937-BFBD-F6EF8B1C532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E202AEF3-8880-44DF-A29B-68BA7D57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토크나이저의 실제 출력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BD3FB241-4B11-4ACA-95CB-4365C720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token_probe가 sqlite3GetToken의 결과를 출력합니다.</a:t>
            </a:r>
          </a:p>
        </p:txBody>
      </p:sp>
      <p:graphicFrame>
        <p:nvGraphicFramePr>
          <p:cNvPr id="85" name=""/>
          <p:cNvGraphicFramePr/>
          <p:nvPr/>
        </p:nvGraphicFramePr>
        <p:xfrm>
          <a:off xmlns:a="http://schemas.openxmlformats.org/drawingml/2006/main" x="431959" y="1905000"/>
          <a:ext xmlns:a="http://schemas.openxmlformats.org/drawingml/2006/main" cx="9210675" cy="2619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14500"/>
                <a:gridCol w="1238250"/>
                <a:gridCol w="3619500"/>
                <a:gridCol w="2638425"/>
              </a:tblGrid>
              <a:tr h="436563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바이트 위치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길이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토큰 종류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문자열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</a:tr>
              <a:tr h="436563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TK_SELECT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SELECT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6563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TK_ID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name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6563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TK_FROM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FROM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6563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TK_VARIABLE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?1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6563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TK_SEMI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;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8" name="foot">
            <a:extLst xmlns:a="http://schemas.openxmlformats.org/drawingml/2006/main">
              <a:ext uri="{FF2B5EF4-FFF2-40B4-BE49-F238E27FC236}">
                <a16:creationId xmlns:a16="http://schemas.microsoft.com/office/drawing/2014/main" id="{D96EDE09-EF24-4911-9F51-336E02D9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0101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기본 SQL: SELECT name FROM student WHERE id = ?1;  공백 등 일부 행 생략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0D4F62A0-427A-49EE-8BCD-361491A6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소스코드 분석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9B9EA367-6555-44CC-83C5-DA8DEB83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06 / 18</a:t>
            </a:r>
          </a:p>
        </p:txBody>
      </p:sp>
    </p:spTree>
    <p:extLst>
      <p:ext uri="{BB962C8B-B14F-4D97-AF65-F5344CB8AC3E}">
        <p14:creationId xmlns:p14="http://schemas.microsoft.com/office/powerpoint/2010/main" val="3405557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D5F4B81-4F9C-4F5D-9468-450028283F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9DA6290-7927-4937-BFBD-F6EF8B1C532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4098F354-8E20-49E9-A5CB-3CF142C3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?1을 인식하는 코드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3BA2A946-1A8D-4F57-8B06-C3FD0C56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tokenize.c:504–508의 실제 코드입니다.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A8EEA441-33C7-49B4-9FF7-A2D5B9A7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009775"/>
            <a:ext cx="92202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case CC_VARNUM: {</a:t>
            </a:r>
          </a:p>
          <a:p xmlns:a="http://schemas.openxmlformats.org/drawingml/2006/main">
            <a:pPr algn="l">
              <a:defRPr sz="18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  *tokenType = TK_VARIABLE;</a:t>
            </a:r>
          </a:p>
          <a:p xmlns:a="http://schemas.openxmlformats.org/drawingml/2006/main">
            <a:pPr algn="l">
              <a:defRPr sz="18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  for(i=1; sqlite3Isdigit(z[i]); i++){}</a:t>
            </a:r>
          </a:p>
          <a:p xmlns:a="http://schemas.openxmlformats.org/drawingml/2006/main">
            <a:pPr algn="l">
              <a:defRPr sz="18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  return i;</a:t>
            </a:r>
          </a:p>
          <a:p xmlns:a="http://schemas.openxmlformats.org/drawingml/2006/main">
            <a:pPr algn="l">
              <a:defRPr sz="18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3661CEE9-9E20-44BA-83DB-A2055836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물음표 뒤의 숫자를 읽고, 토큰 종류와 바이트 길이를 돌려줍니다.</a:t>
            </a:r>
          </a:p>
        </p:txBody>
      </p:sp>
      <p:sp>
        <p:nvSpPr>
          <p:cNvPr id="79" name="foot">
            <a:extLst xmlns:a="http://schemas.openxmlformats.org/drawingml/2006/main">
              <a:ext uri="{FF2B5EF4-FFF2-40B4-BE49-F238E27FC236}">
                <a16:creationId xmlns:a16="http://schemas.microsoft.com/office/drawing/2014/main" id="{A58D0CF3-8FC3-41B5-A95A-281A5FB3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0101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여기서는 값 2001을 읽지 않습니다. SQL 안의 문자 ?1만 읽습니다.</a:t>
            </a:r>
          </a:p>
        </p:txBody>
      </p:sp>
      <p:sp>
        <p:nvSpPr>
          <p:cNvPr id="80" name="footer">
            <a:extLst xmlns:a="http://schemas.openxmlformats.org/drawingml/2006/main">
              <a:ext uri="{FF2B5EF4-FFF2-40B4-BE49-F238E27FC236}">
                <a16:creationId xmlns:a16="http://schemas.microsoft.com/office/drawing/2014/main" id="{B02079B9-0523-465C-80DF-1E2059A8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소스코드 분석</a:t>
            </a:r>
          </a:p>
        </p:txBody>
      </p:sp>
      <p:sp>
        <p:nvSpPr>
          <p:cNvPr id="81" name="page">
            <a:extLst xmlns:a="http://schemas.openxmlformats.org/drawingml/2006/main">
              <a:ext uri="{FF2B5EF4-FFF2-40B4-BE49-F238E27FC236}">
                <a16:creationId xmlns:a16="http://schemas.microsoft.com/office/drawing/2014/main" id="{D3C15A0C-EDF3-46D0-8489-1FA419DC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07 / 18</a:t>
            </a:r>
          </a:p>
        </p:txBody>
      </p:sp>
    </p:spTree>
    <p:extLst>
      <p:ext uri="{BB962C8B-B14F-4D97-AF65-F5344CB8AC3E}">
        <p14:creationId xmlns:p14="http://schemas.microsoft.com/office/powerpoint/2010/main" val="3405557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D5F4B81-4F9C-4F5D-9468-450028283F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9DA6290-7927-4937-BFBD-F6EF8B1C532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A2AB16DA-57CC-4FE8-BF33-B024CF32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토큰을 Parser에 전달하는 반복문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5BC161D7-675C-4E11-AD9B-DE2DA181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tokenize.c:646과 711–715를 연결해 읽습니다.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AE53C932-85C1-4EE3-9526-17511C3F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009775"/>
            <a:ext cx="92202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n = sqlite3GetToken((u8*)zSql, &amp;tokenType);</a:t>
            </a:r>
          </a:p>
          <a:p xmlns:a="http://schemas.openxmlformats.org/drawingml/2006/main">
            <a:pPr algn="l">
              <a:defRPr sz="18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/* 길이, 공백, 오류 처리 분기는 생략 */</a:t>
            </a:r>
          </a:p>
          <a:p xmlns:a="http://schemas.openxmlformats.org/drawingml/2006/main">
            <a:pPr algn="l">
              <a:defRPr sz="18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pParse-&gt;sLastToken.z = zSql;</a:t>
            </a:r>
          </a:p>
          <a:p xmlns:a="http://schemas.openxmlformats.org/drawingml/2006/main">
            <a:pPr algn="l">
              <a:defRPr sz="18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pParse-&gt;sLastToken.n = (u32)n;</a:t>
            </a:r>
          </a:p>
          <a:p xmlns:a="http://schemas.openxmlformats.org/drawingml/2006/main">
            <a:pPr algn="l">
              <a:defRPr sz="18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sqlite3Parser(pEngine, tokenType, pParse-&gt;sLastToken);</a:t>
            </a:r>
          </a:p>
          <a:p xmlns:a="http://schemas.openxmlformats.org/drawingml/2006/main">
            <a:pPr algn="l">
              <a:defRPr sz="18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zSql += n;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23077C45-7A78-421E-9EA5-BB3164F7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원문 위치와 길이를 함께 넘기고, 다음 토큰으로 이동합니다.</a:t>
            </a:r>
          </a:p>
        </p:txBody>
      </p:sp>
      <p:sp>
        <p:nvSpPr>
          <p:cNvPr id="79" name="foot">
            <a:extLst xmlns:a="http://schemas.openxmlformats.org/drawingml/2006/main">
              <a:ext uri="{FF2B5EF4-FFF2-40B4-BE49-F238E27FC236}">
                <a16:creationId xmlns:a16="http://schemas.microsoft.com/office/drawing/2014/main" id="{949CE433-4CA7-402E-9AC1-E33C2B58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0101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발췌 사이에 공백 처리, 토큰 오류 검사, 중단 조건 등이 있습니다.</a:t>
            </a:r>
          </a:p>
        </p:txBody>
      </p:sp>
      <p:sp>
        <p:nvSpPr>
          <p:cNvPr id="80" name="footer">
            <a:extLst xmlns:a="http://schemas.openxmlformats.org/drawingml/2006/main">
              <a:ext uri="{FF2B5EF4-FFF2-40B4-BE49-F238E27FC236}">
                <a16:creationId xmlns:a16="http://schemas.microsoft.com/office/drawing/2014/main" id="{D4ECA115-C82E-4B67-ADE7-1E8A32CB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소스코드 분석</a:t>
            </a:r>
          </a:p>
        </p:txBody>
      </p:sp>
      <p:sp>
        <p:nvSpPr>
          <p:cNvPr id="81" name="page">
            <a:extLst xmlns:a="http://schemas.openxmlformats.org/drawingml/2006/main">
              <a:ext uri="{FF2B5EF4-FFF2-40B4-BE49-F238E27FC236}">
                <a16:creationId xmlns:a16="http://schemas.microsoft.com/office/drawing/2014/main" id="{56D2FFA2-4CBD-44E0-9C23-6147C555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08 / 18</a:t>
            </a:r>
          </a:p>
        </p:txBody>
      </p:sp>
    </p:spTree>
    <p:extLst>
      <p:ext uri="{BB962C8B-B14F-4D97-AF65-F5344CB8AC3E}">
        <p14:creationId xmlns:p14="http://schemas.microsoft.com/office/powerpoint/2010/main" val="3405557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D5F4B81-4F9C-4F5D-9468-450028283F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9DA6290-7927-4937-BFBD-F6EF8B1C532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D22350C3-859C-4790-B568-B18FFDF2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Lemon과 parse.y</a:t>
            </a:r>
          </a:p>
        </p:txBody>
      </p:sp>
      <p:sp>
        <p:nvSpPr>
          <p:cNvPr id="76" name="item-0-label">
            <a:extLst xmlns:a="http://schemas.openxmlformats.org/drawingml/2006/main">
              <a:ext uri="{FF2B5EF4-FFF2-40B4-BE49-F238E27FC236}">
                <a16:creationId xmlns:a16="http://schemas.microsoft.com/office/drawing/2014/main" id="{4931B776-57BF-4BA4-845E-C83C589A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495425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문법의 원본</a:t>
            </a:r>
          </a:p>
        </p:txBody>
      </p:sp>
      <p:sp>
        <p:nvSpPr>
          <p:cNvPr id="77" name="item-0-body">
            <a:extLst xmlns:a="http://schemas.openxmlformats.org/drawingml/2006/main">
              <a:ext uri="{FF2B5EF4-FFF2-40B4-BE49-F238E27FC236}">
                <a16:creationId xmlns:a16="http://schemas.microsoft.com/office/drawing/2014/main" id="{4415B081-4448-49D9-AA00-A2022714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838325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src/parse.y에 SQL 문법과 C 의미 동작을 정의합니다.</a:t>
            </a:r>
          </a:p>
        </p:txBody>
      </p:sp>
      <p:sp>
        <p:nvSpPr>
          <p:cNvPr id="78" name="item-1-label">
            <a:extLst xmlns:a="http://schemas.openxmlformats.org/drawingml/2006/main">
              <a:ext uri="{FF2B5EF4-FFF2-40B4-BE49-F238E27FC236}">
                <a16:creationId xmlns:a16="http://schemas.microsoft.com/office/drawing/2014/main" id="{A743865F-1140-4520-B391-643E582D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5717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생성 도구</a:t>
            </a:r>
          </a:p>
        </p:txBody>
      </p:sp>
      <p:sp>
        <p:nvSpPr>
          <p:cNvPr id="79" name="item-1-body">
            <a:extLst xmlns:a="http://schemas.openxmlformats.org/drawingml/2006/main">
              <a:ext uri="{FF2B5EF4-FFF2-40B4-BE49-F238E27FC236}">
                <a16:creationId xmlns:a16="http://schemas.microsoft.com/office/drawing/2014/main" id="{FBCA0141-5A60-43A6-8B98-73D5C231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914650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tool/lemon.c와 tool/lempar.c로 Parser 코드를 생성합니다.</a:t>
            </a:r>
          </a:p>
        </p:txBody>
      </p:sp>
      <p:sp>
        <p:nvSpPr>
          <p:cNvPr id="80" name="item-2-label">
            <a:extLst xmlns:a="http://schemas.openxmlformats.org/drawingml/2006/main">
              <a:ext uri="{FF2B5EF4-FFF2-40B4-BE49-F238E27FC236}">
                <a16:creationId xmlns:a16="http://schemas.microsoft.com/office/drawing/2014/main" id="{9E075C03-0E0D-4413-8F2E-235BCC75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3648075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읽을 대상</a:t>
            </a:r>
          </a:p>
        </p:txBody>
      </p:sp>
      <p:sp>
        <p:nvSpPr>
          <p:cNvPr id="81" name="item-2-body">
            <a:extLst xmlns:a="http://schemas.openxmlformats.org/drawingml/2006/main">
              <a:ext uri="{FF2B5EF4-FFF2-40B4-BE49-F238E27FC236}">
                <a16:creationId xmlns:a16="http://schemas.microsoft.com/office/drawing/2014/main" id="{1D5CF40B-4124-4F96-955C-421D1FBB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3990975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이번에는 생성된 거대한 코드보다 원본 문법 규칙을 읽습니다.</a:t>
            </a:r>
          </a:p>
        </p:txBody>
      </p:sp>
      <p:sp>
        <p:nvSpPr>
          <p:cNvPr id="82" name="foot">
            <a:extLst xmlns:a="http://schemas.openxmlformats.org/drawingml/2006/main">
              <a:ext uri="{FF2B5EF4-FFF2-40B4-BE49-F238E27FC236}">
                <a16:creationId xmlns:a16="http://schemas.microsoft.com/office/drawing/2014/main" id="{E226CFD9-924F-4C1E-9421-016D2688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0101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배포 amalgamation에는 해당 릴리스에서 생성한 Parser 코드가 이미 포함됩니다.</a:t>
            </a:r>
          </a:p>
        </p:txBody>
      </p:sp>
      <p:sp>
        <p:nvSpPr>
          <p:cNvPr id="83" name="footer">
            <a:extLst xmlns:a="http://schemas.openxmlformats.org/drawingml/2006/main">
              <a:ext uri="{FF2B5EF4-FFF2-40B4-BE49-F238E27FC236}">
                <a16:creationId xmlns:a16="http://schemas.microsoft.com/office/drawing/2014/main" id="{11589647-F112-470C-8E68-12327185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소스코드 분석</a:t>
            </a:r>
          </a:p>
        </p:txBody>
      </p:sp>
      <p:sp>
        <p:nvSpPr>
          <p:cNvPr id="84" name="page">
            <a:extLst xmlns:a="http://schemas.openxmlformats.org/drawingml/2006/main">
              <a:ext uri="{FF2B5EF4-FFF2-40B4-BE49-F238E27FC236}">
                <a16:creationId xmlns:a16="http://schemas.microsoft.com/office/drawing/2014/main" id="{DD09CE74-A82C-4755-94D2-B3408C70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09 / 18</a:t>
            </a:r>
          </a:p>
        </p:txBody>
      </p:sp>
    </p:spTree>
    <p:extLst>
      <p:ext uri="{BB962C8B-B14F-4D97-AF65-F5344CB8AC3E}">
        <p14:creationId xmlns:p14="http://schemas.microsoft.com/office/powerpoint/2010/main" val="3405557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D5F4B81-4F9C-4F5D-9468-450028283F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9DA6290-7927-4937-BFBD-F6EF8B1C532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5D62CCEC-0583-4FE5-9C8C-41DC7532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SELECT 문법 규칙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74513E2B-C87E-4D94-ABC8-FA6E78D9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parse.y:651–655에서 규칙과 의미 동작을 구분합니다.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689CF20D-5009-4641-8F88-C320B202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009775"/>
            <a:ext cx="92202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oneselect(A) ::= SELECT distinct(D) selcollist(W) from(X)</a:t>
            </a:r>
          </a:p>
          <a:p xmlns:a="http://schemas.openxmlformats.org/drawingml/2006/main">
            <a:pPr algn="l">
              <a:defRPr sz="17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                 where_opt(Y) groupby_opt(P) having_opt(Q)</a:t>
            </a:r>
          </a:p>
          <a:p xmlns:a="http://schemas.openxmlformats.org/drawingml/2006/main">
            <a:pPr algn="l">
              <a:defRPr sz="17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                 orderby_opt(Z) limit_opt(L). {</a:t>
            </a:r>
          </a:p>
          <a:p xmlns:a="http://schemas.openxmlformats.org/drawingml/2006/main">
            <a:pPr algn="l">
              <a:defRPr sz="17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  A = sqlite3SelectNew(pParse,W,X,Y,P,Q,Z,D,L);</a:t>
            </a:r>
          </a:p>
          <a:p xmlns:a="http://schemas.openxmlformats.org/drawingml/2006/main">
            <a:pPr algn="l">
              <a:defRPr sz="17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471301B1-626A-43FC-A11E-871F9E97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문법이 맞으면 의미 동작이 실행되고 Select 구조가 만들어집니다.</a:t>
            </a:r>
          </a:p>
        </p:txBody>
      </p:sp>
      <p:sp>
        <p:nvSpPr>
          <p:cNvPr id="79" name="foot">
            <a:extLst xmlns:a="http://schemas.openxmlformats.org/drawingml/2006/main">
              <a:ext uri="{FF2B5EF4-FFF2-40B4-BE49-F238E27FC236}">
                <a16:creationId xmlns:a16="http://schemas.microsoft.com/office/drawing/2014/main" id="{3CADEC98-2D59-408E-8957-20B96AB7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0101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가독성을 위해 원본 규칙의 줄바꿈만 조정했습니다.</a:t>
            </a:r>
          </a:p>
        </p:txBody>
      </p:sp>
      <p:sp>
        <p:nvSpPr>
          <p:cNvPr id="80" name="footer">
            <a:extLst xmlns:a="http://schemas.openxmlformats.org/drawingml/2006/main">
              <a:ext uri="{FF2B5EF4-FFF2-40B4-BE49-F238E27FC236}">
                <a16:creationId xmlns:a16="http://schemas.microsoft.com/office/drawing/2014/main" id="{D8A74FBD-83DA-4121-A7AC-CC7AF151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소스코드 분석</a:t>
            </a:r>
          </a:p>
        </p:txBody>
      </p:sp>
      <p:sp>
        <p:nvSpPr>
          <p:cNvPr id="81" name="page">
            <a:extLst xmlns:a="http://schemas.openxmlformats.org/drawingml/2006/main">
              <a:ext uri="{FF2B5EF4-FFF2-40B4-BE49-F238E27FC236}">
                <a16:creationId xmlns:a16="http://schemas.microsoft.com/office/drawing/2014/main" id="{E3437E86-2881-4E4A-B092-C933C46B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3405557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D5F4B81-4F9C-4F5D-9468-450028283F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9DA6290-7927-4937-BFBD-F6EF8B1C532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8CAC4254-9983-4EF8-9C5F-2F5ACD36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매개변수 표현식과 번호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A075DC4D-A24B-4D80-A261-BC405AB3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parse.y:1204–1208의 VARIABLE 규칙입니다.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39469761-D6F4-4936-AEE2-A43A9B8A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009775"/>
            <a:ext cx="92202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expr(A) ::= VARIABLE(X). {</a:t>
            </a:r>
          </a:p>
          <a:p xmlns:a="http://schemas.openxmlformats.org/drawingml/2006/main">
            <a:pPr algn="l">
              <a:defRPr sz="18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  if( !(X.z[0]=='#' &amp;&amp; sqlite3Isdigit(X.z[1])) ){</a:t>
            </a:r>
          </a:p>
          <a:p xmlns:a="http://schemas.openxmlformats.org/drawingml/2006/main">
            <a:pPr algn="l">
              <a:defRPr sz="18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    u32 n = X.n;</a:t>
            </a:r>
          </a:p>
          <a:p xmlns:a="http://schemas.openxmlformats.org/drawingml/2006/main">
            <a:pPr algn="l">
              <a:defRPr sz="18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    A = tokenExpr(pParse, TK_VARIABLE, X);</a:t>
            </a:r>
          </a:p>
          <a:p xmlns:a="http://schemas.openxmlformats.org/drawingml/2006/main">
            <a:pPr algn="l">
              <a:defRPr sz="18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    sqlite3ExprAssignVarNumber(pParse, A, n);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CB39A026-DDBC-4F43-8BDA-5A993BC2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표현식을 만들고, 바인딩에 사용할 매개변수 번호를 정합니다.</a:t>
            </a:r>
          </a:p>
        </p:txBody>
      </p:sp>
      <p:sp>
        <p:nvSpPr>
          <p:cNvPr id="79" name="foot">
            <a:extLst xmlns:a="http://schemas.openxmlformats.org/drawingml/2006/main">
              <a:ext uri="{FF2B5EF4-FFF2-40B4-BE49-F238E27FC236}">
                <a16:creationId xmlns:a16="http://schemas.microsoft.com/office/drawing/2014/main" id="{3D5BC4EC-0DE5-486D-A42B-3BED0A23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0101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규칙 앞부분 발췌입니다. 뒤의 내부 #N 처리 분기와 닫는 부분은 생략했습니다.</a:t>
            </a:r>
          </a:p>
        </p:txBody>
      </p:sp>
      <p:sp>
        <p:nvSpPr>
          <p:cNvPr id="80" name="footer">
            <a:extLst xmlns:a="http://schemas.openxmlformats.org/drawingml/2006/main">
              <a:ext uri="{FF2B5EF4-FFF2-40B4-BE49-F238E27FC236}">
                <a16:creationId xmlns:a16="http://schemas.microsoft.com/office/drawing/2014/main" id="{42531475-EED0-4242-B5E5-353E3BB8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소스코드 분석</a:t>
            </a:r>
          </a:p>
        </p:txBody>
      </p:sp>
      <p:sp>
        <p:nvSpPr>
          <p:cNvPr id="81" name="page">
            <a:extLst xmlns:a="http://schemas.openxmlformats.org/drawingml/2006/main">
              <a:ext uri="{FF2B5EF4-FFF2-40B4-BE49-F238E27FC236}">
                <a16:creationId xmlns:a16="http://schemas.microsoft.com/office/drawing/2014/main" id="{D5AEFC66-540B-443F-B647-2AE46ABC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3405557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D5F4B81-4F9C-4F5D-9468-450028283F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9DA6290-7927-4937-BFBD-F6EF8B1C532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9933B80B-B9F6-41FA-B72F-F24F08A7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번호는 어떻게 정해질까</a:t>
            </a:r>
          </a:p>
        </p:txBody>
      </p:sp>
      <p:graphicFrame>
        <p:nvGraphicFramePr>
          <p:cNvPr id="83" name=""/>
          <p:cNvGraphicFramePr/>
          <p:nvPr/>
        </p:nvGraphicFramePr>
        <p:xfrm>
          <a:off xmlns:a="http://schemas.openxmlformats.org/drawingml/2006/main" x="431959" y="1514475"/>
          <a:ext xmlns:a="http://schemas.openxmlformats.org/drawingml/2006/main" cx="9210675" cy="3048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28875"/>
                <a:gridCol w="4638675"/>
                <a:gridCol w="2143125"/>
              </a:tblGrid>
              <a:tr h="7620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SQL 안의 표현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번호 규칙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expr.c 위치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</a:tr>
              <a:tr h="7620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이전 최대 번호의 다음 번호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1328–1331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?1, ?2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명시한 정수를 번호로 사용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1334–1361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:name 반복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같은 이름이면 기존 번호 재사용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1363–1375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7" name="foot">
            <a:extLst xmlns:a="http://schemas.openxmlformats.org/drawingml/2006/main">
              <a:ext uri="{FF2B5EF4-FFF2-40B4-BE49-F238E27FC236}">
                <a16:creationId xmlns:a16="http://schemas.microsoft.com/office/drawing/2014/main" id="{CD957922-340D-4620-8B57-AEDCD969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0101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바인딩되지 않은 매개변수의 값은 NULL입니다.</a:t>
            </a:r>
          </a:p>
        </p:txBody>
      </p:sp>
      <p:sp>
        <p:nvSpPr>
          <p:cNvPr id="78" name="footer">
            <a:extLst xmlns:a="http://schemas.openxmlformats.org/drawingml/2006/main">
              <a:ext uri="{FF2B5EF4-FFF2-40B4-BE49-F238E27FC236}">
                <a16:creationId xmlns:a16="http://schemas.microsoft.com/office/drawing/2014/main" id="{2BA9A320-3B5B-4DFF-8F77-AD0B8AC3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소스코드 분석</a:t>
            </a:r>
          </a:p>
        </p:txBody>
      </p:sp>
      <p:sp>
        <p:nvSpPr>
          <p:cNvPr id="79" name="page">
            <a:extLst xmlns:a="http://schemas.openxmlformats.org/drawingml/2006/main">
              <a:ext uri="{FF2B5EF4-FFF2-40B4-BE49-F238E27FC236}">
                <a16:creationId xmlns:a16="http://schemas.microsoft.com/office/drawing/2014/main" id="{8EDAF236-18DF-4A4B-876A-99A3187A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3405557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D5F4B81-4F9C-4F5D-9468-450028283F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9DA6290-7927-4937-BFBD-F6EF8B1C532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6AF82996-D32C-4EBD-863A-2CC5118C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bind가 값을 저장하는 곳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C90AE30B-956F-4A76-9491-FBC1F414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vdbeapi.c:1791–1798의 정수 바인딩 핵심입니다.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8AC74FA7-98CF-4978-89FC-BDC380AE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009775"/>
            <a:ext cx="92202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Vdbe *p = (Vdbe *)pStmt;</a:t>
            </a:r>
          </a:p>
          <a:p xmlns:a="http://schemas.openxmlformats.org/drawingml/2006/main">
            <a:pPr algn="l">
              <a:defRPr sz="18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rc = vdbeUnbind(p, (u32)(i-1));</a:t>
            </a:r>
          </a:p>
          <a:p xmlns:a="http://schemas.openxmlformats.org/drawingml/2006/main">
            <a:pPr algn="l">
              <a:defRPr sz="18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if( rc==SQLITE_OK ){</a:t>
            </a:r>
          </a:p>
          <a:p xmlns:a="http://schemas.openxmlformats.org/drawingml/2006/main">
            <a:pPr algn="l">
              <a:defRPr sz="18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  /* 범위 검증 assert 생략 */</a:t>
            </a:r>
          </a:p>
          <a:p xmlns:a="http://schemas.openxmlformats.org/drawingml/2006/main">
            <a:pPr algn="l">
              <a:defRPr sz="18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  sqlite3VdbeMemSetInt64(&amp;p-&gt;aVar[i-1], iValue);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75D3AFB1-F894-4432-8710-438ED365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1부터 시작하는 API 인덱스 i를 배열 인덱스 i-1로 바꿉니다.</a:t>
            </a:r>
          </a:p>
        </p:txBody>
      </p:sp>
      <p:sp>
        <p:nvSpPr>
          <p:cNvPr id="79" name="foot">
            <a:extLst xmlns:a="http://schemas.openxmlformats.org/drawingml/2006/main">
              <a:ext uri="{FF2B5EF4-FFF2-40B4-BE49-F238E27FC236}">
                <a16:creationId xmlns:a16="http://schemas.microsoft.com/office/drawing/2014/main" id="{94EFE694-954A-4BEF-BDA8-248A70CD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0101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파서가 정한 번호와 aVar의 값 저장이 여기서 연결됩니다.</a:t>
            </a:r>
          </a:p>
        </p:txBody>
      </p:sp>
      <p:sp>
        <p:nvSpPr>
          <p:cNvPr id="80" name="footer">
            <a:extLst xmlns:a="http://schemas.openxmlformats.org/drawingml/2006/main">
              <a:ext uri="{FF2B5EF4-FFF2-40B4-BE49-F238E27FC236}">
                <a16:creationId xmlns:a16="http://schemas.microsoft.com/office/drawing/2014/main" id="{91A9C041-8ECF-4292-8EB5-17EBA2AF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소스코드 분석</a:t>
            </a:r>
          </a:p>
        </p:txBody>
      </p:sp>
      <p:sp>
        <p:nvSpPr>
          <p:cNvPr id="81" name="page">
            <a:extLst xmlns:a="http://schemas.openxmlformats.org/drawingml/2006/main">
              <a:ext uri="{FF2B5EF4-FFF2-40B4-BE49-F238E27FC236}">
                <a16:creationId xmlns:a16="http://schemas.microsoft.com/office/drawing/2014/main" id="{C4C1DA9B-13B4-4F83-9393-957CE115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3405557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D5F4B81-4F9C-4F5D-9468-450028283F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9DA6290-7927-4937-BFBD-F6EF8B1C532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A4D93833-FBC1-4FF0-98B3-54CCE017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실제 Parser 추적 실행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E63872F3-985C-4F03-89E8-0E515792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고정된 SELECT를 준비하고, step은 호출하지 않습니다.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7917E251-DA85-44A4-A67B-08BCAAF7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009775"/>
            <a:ext cx="92202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./build/student_lab data/week3.db parser ok</a:t>
            </a:r>
          </a:p>
          <a:p xmlns:a="http://schemas.openxmlformats.org/drawingml/2006/main">
            <a:pPr algn="l">
              <a:defRPr sz="18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./build/student_lab data/week3.db parser syntax</a:t>
            </a:r>
          </a:p>
          <a:p xmlns:a="http://schemas.openxmlformats.org/drawingml/2006/main">
            <a:pPr algn="l">
              <a:defRPr sz="18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./build/student_lab data/week3.db parser name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E4F7E04D-71A0-415D-9B83-0EFA832E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ok는 준비 성공, syntax와 name은 의도한 실패 사례입니다.</a:t>
            </a:r>
          </a:p>
        </p:txBody>
      </p:sp>
      <p:sp>
        <p:nvSpPr>
          <p:cNvPr id="79" name="foot">
            <a:extLst xmlns:a="http://schemas.openxmlformats.org/drawingml/2006/main">
              <a:ext uri="{FF2B5EF4-FFF2-40B4-BE49-F238E27FC236}">
                <a16:creationId xmlns:a16="http://schemas.microsoft.com/office/drawing/2014/main" id="{3FA88372-0E05-4A21-8745-F7F2D77D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0101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추적 조건: SQLITE_DEBUG 빌드와 PRAGMA parser_trace=ON</a:t>
            </a:r>
          </a:p>
        </p:txBody>
      </p:sp>
      <p:sp>
        <p:nvSpPr>
          <p:cNvPr id="80" name="footer">
            <a:extLst xmlns:a="http://schemas.openxmlformats.org/drawingml/2006/main">
              <a:ext uri="{FF2B5EF4-FFF2-40B4-BE49-F238E27FC236}">
                <a16:creationId xmlns:a16="http://schemas.microsoft.com/office/drawing/2014/main" id="{9289AD6B-9A6B-44F6-8966-E32A7043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소스코드 분석</a:t>
            </a:r>
          </a:p>
        </p:txBody>
      </p:sp>
      <p:sp>
        <p:nvSpPr>
          <p:cNvPr id="81" name="page">
            <a:extLst xmlns:a="http://schemas.openxmlformats.org/drawingml/2006/main">
              <a:ext uri="{FF2B5EF4-FFF2-40B4-BE49-F238E27FC236}">
                <a16:creationId xmlns:a16="http://schemas.microsoft.com/office/drawing/2014/main" id="{BA922C2A-20CA-4219-A389-8D38F48D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3405557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D5F4B81-4F9C-4F5D-9468-450028283F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9DA6290-7927-4937-BFBD-F6EF8B1C532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CE5BCAE5-2C3A-46E6-968A-25F3F62A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Shift와 Reduce 읽기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3E7F874D-6C96-44DF-AB11-0F2587D7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parser ok의 실제 출력 일부입니다.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15ADAF9F-454A-42D3-9A60-230FC596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009775"/>
            <a:ext cx="92202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parser: Input 'SELECT' in state 0</a:t>
            </a:r>
          </a:p>
          <a:p xmlns:a="http://schemas.openxmlformats.org/drawingml/2006/main">
            <a:pPr algn="l">
              <a:defRPr sz="18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parser: Shift 'SELECT', go to state 329</a:t>
            </a:r>
          </a:p>
          <a:p xmlns:a="http://schemas.openxmlformats.org/drawingml/2006/main">
            <a:pPr algn="l">
              <a:defRPr sz="18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parser: Input 'ID' in state 329</a:t>
            </a:r>
          </a:p>
          <a:p xmlns:a="http://schemas.openxmlformats.org/drawingml/2006/main">
            <a:pPr algn="l">
              <a:defRPr sz="18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parser: Reduce 100 [distinct ::=].</a:t>
            </a:r>
          </a:p>
          <a:p xmlns:a="http://schemas.openxmlformats.org/drawingml/2006/main">
            <a:pPr algn="l">
              <a:defRPr sz="18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...</a:t>
            </a:r>
          </a:p>
          <a:p xmlns:a="http://schemas.openxmlformats.org/drawingml/2006/main">
            <a:pPr algn="l">
              <a:defRPr sz="1850" b="0">
                <a:solidFill>
                  <a:srgbClr val="7B3294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7B3294"/>
                </a:solidFill>
                <a:latin typeface="Menlo"/>
                <a:ea typeface="Menlo"/>
                <a:cs typeface="Menlo"/>
              </a:rPr>
              <a:t>PREPARE rc=0 parameters=1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26EA0EC5-1280-40C0-A310-F472B33D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Shift는 입력 토큰을 받아들이고, Reduce는 문법 규칙을 적용합니다.</a:t>
            </a:r>
          </a:p>
        </p:txBody>
      </p:sp>
      <p:sp>
        <p:nvSpPr>
          <p:cNvPr id="79" name="foot">
            <a:extLst xmlns:a="http://schemas.openxmlformats.org/drawingml/2006/main">
              <a:ext uri="{FF2B5EF4-FFF2-40B4-BE49-F238E27FC236}">
                <a16:creationId xmlns:a16="http://schemas.microsoft.com/office/drawing/2014/main" id="{84A33104-817E-4B09-B2A7-32A2B7D9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0101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상태 번호와 규칙 번호를 외우기보다 토큰과 규칙 이름을 연결합니다.</a:t>
            </a:r>
          </a:p>
        </p:txBody>
      </p:sp>
      <p:sp>
        <p:nvSpPr>
          <p:cNvPr id="80" name="footer">
            <a:extLst xmlns:a="http://schemas.openxmlformats.org/drawingml/2006/main">
              <a:ext uri="{FF2B5EF4-FFF2-40B4-BE49-F238E27FC236}">
                <a16:creationId xmlns:a16="http://schemas.microsoft.com/office/drawing/2014/main" id="{6DA20D9A-FD3F-41D3-B982-E4B7A36F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소스코드 분석</a:t>
            </a:r>
          </a:p>
        </p:txBody>
      </p:sp>
      <p:sp>
        <p:nvSpPr>
          <p:cNvPr id="81" name="page">
            <a:extLst xmlns:a="http://schemas.openxmlformats.org/drawingml/2006/main">
              <a:ext uri="{FF2B5EF4-FFF2-40B4-BE49-F238E27FC236}">
                <a16:creationId xmlns:a16="http://schemas.microsoft.com/office/drawing/2014/main" id="{DDEF7684-D805-4932-8A7F-B2C0BE35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3405557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D5F4B81-4F9C-4F5D-9468-450028283F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9DA6290-7927-4937-BFBD-F6EF8B1C532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80AF203E-21CE-47E6-BE25-707CF514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두 가지 준비 실패</a:t>
            </a:r>
          </a:p>
        </p:txBody>
      </p:sp>
      <p:graphicFrame>
        <p:nvGraphicFramePr>
          <p:cNvPr id="83" name=""/>
          <p:cNvGraphicFramePr/>
          <p:nvPr/>
        </p:nvGraphicFramePr>
        <p:xfrm>
          <a:off xmlns:a="http://schemas.openxmlformats.org/drawingml/2006/main" x="431959" y="1514475"/>
          <a:ext xmlns:a="http://schemas.openxmlformats.org/drawingml/2006/main" cx="9210675" cy="3048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381125"/>
                <a:gridCol w="3333750"/>
                <a:gridCol w="4495800"/>
              </a:tblGrid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비교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syntax 모드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name 모드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</a:tr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SQL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SELECT FROM student;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SELECT missing_column</a:t>
                      </a:r>
                    </a:p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FROM student;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문제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SELECT 목록이 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열 이름을 찾을 수 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관찰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Syntax Error!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no such column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단계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문법 처리 실패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7B3294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이름 해석 실패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7" name="foot">
            <a:extLst xmlns:a="http://schemas.openxmlformats.org/drawingml/2006/main">
              <a:ext uri="{FF2B5EF4-FFF2-40B4-BE49-F238E27FC236}">
                <a16:creationId xmlns:a16="http://schemas.microsoft.com/office/drawing/2014/main" id="{8F544829-9B74-44A7-AF9F-091AF822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0101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둘 다 prepare 오류이지만, 이름 해석 오류를 문법 오류로 부르지는 않습니다.</a:t>
            </a:r>
          </a:p>
        </p:txBody>
      </p:sp>
      <p:sp>
        <p:nvSpPr>
          <p:cNvPr id="78" name="footer">
            <a:extLst xmlns:a="http://schemas.openxmlformats.org/drawingml/2006/main">
              <a:ext uri="{FF2B5EF4-FFF2-40B4-BE49-F238E27FC236}">
                <a16:creationId xmlns:a16="http://schemas.microsoft.com/office/drawing/2014/main" id="{E8605FDF-2451-4DBB-BA4D-9CA841FF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소스코드 분석</a:t>
            </a:r>
          </a:p>
        </p:txBody>
      </p:sp>
      <p:sp>
        <p:nvSpPr>
          <p:cNvPr id="79" name="page">
            <a:extLst xmlns:a="http://schemas.openxmlformats.org/drawingml/2006/main">
              <a:ext uri="{FF2B5EF4-FFF2-40B4-BE49-F238E27FC236}">
                <a16:creationId xmlns:a16="http://schemas.microsoft.com/office/drawing/2014/main" id="{64D87FFB-F170-4EF6-80C8-E73C5599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3405557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D5F4B81-4F9C-4F5D-9468-450028283F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9DA6290-7927-4937-BFBD-F6EF8B1C532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D4EAAE97-C3D9-4EB6-8130-BB9B1482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소스 분석 확인 과제</a:t>
            </a:r>
          </a:p>
        </p:txBody>
      </p:sp>
      <p:sp>
        <p:nvSpPr>
          <p:cNvPr id="76" name="item-0-label">
            <a:extLst xmlns:a="http://schemas.openxmlformats.org/drawingml/2006/main">
              <a:ext uri="{FF2B5EF4-FFF2-40B4-BE49-F238E27FC236}">
                <a16:creationId xmlns:a16="http://schemas.microsoft.com/office/drawing/2014/main" id="{E60441D5-418C-464A-AC3A-0CEC4BA4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495425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과제 1</a:t>
            </a:r>
          </a:p>
        </p:txBody>
      </p:sp>
      <p:sp>
        <p:nvSpPr>
          <p:cNvPr id="77" name="item-0-body">
            <a:extLst xmlns:a="http://schemas.openxmlformats.org/drawingml/2006/main">
              <a:ext uri="{FF2B5EF4-FFF2-40B4-BE49-F238E27FC236}">
                <a16:creationId xmlns:a16="http://schemas.microsoft.com/office/drawing/2014/main" id="{A7F211D3-7733-4B73-BEE0-95EEC457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838325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?1이 TK_VARIABLE이 되는 파일과 줄을 찾습니다.</a:t>
            </a:r>
          </a:p>
        </p:txBody>
      </p:sp>
      <p:sp>
        <p:nvSpPr>
          <p:cNvPr id="78" name="item-1-label">
            <a:extLst xmlns:a="http://schemas.openxmlformats.org/drawingml/2006/main">
              <a:ext uri="{FF2B5EF4-FFF2-40B4-BE49-F238E27FC236}">
                <a16:creationId xmlns:a16="http://schemas.microsoft.com/office/drawing/2014/main" id="{C541C976-9A90-494E-8ED2-94D455E0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5717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과제 2</a:t>
            </a:r>
          </a:p>
        </p:txBody>
      </p:sp>
      <p:sp>
        <p:nvSpPr>
          <p:cNvPr id="79" name="item-1-body">
            <a:extLst xmlns:a="http://schemas.openxmlformats.org/drawingml/2006/main">
              <a:ext uri="{FF2B5EF4-FFF2-40B4-BE49-F238E27FC236}">
                <a16:creationId xmlns:a16="http://schemas.microsoft.com/office/drawing/2014/main" id="{7014459B-147B-47E2-AD08-8BFD4871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914650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parse.y에서 매개변수 번호 결정 함수를 찾아 호출을 따라갑니다.</a:t>
            </a:r>
          </a:p>
        </p:txBody>
      </p:sp>
      <p:sp>
        <p:nvSpPr>
          <p:cNvPr id="80" name="item-2-label">
            <a:extLst xmlns:a="http://schemas.openxmlformats.org/drawingml/2006/main">
              <a:ext uri="{FF2B5EF4-FFF2-40B4-BE49-F238E27FC236}">
                <a16:creationId xmlns:a16="http://schemas.microsoft.com/office/drawing/2014/main" id="{0EB0F33D-E5D7-4FA4-8555-20CD0A29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3648075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과제 3</a:t>
            </a:r>
          </a:p>
        </p:txBody>
      </p:sp>
      <p:sp>
        <p:nvSpPr>
          <p:cNvPr id="81" name="item-2-body">
            <a:extLst xmlns:a="http://schemas.openxmlformats.org/drawingml/2006/main">
              <a:ext uri="{FF2B5EF4-FFF2-40B4-BE49-F238E27FC236}">
                <a16:creationId xmlns:a16="http://schemas.microsoft.com/office/drawing/2014/main" id="{2274D604-2F75-42BC-AA03-253D48A6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3990975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토큰 ?1과 바인딩 값 2001이 다른 시점에 처리됨을 설명합니다.</a:t>
            </a:r>
          </a:p>
        </p:txBody>
      </p:sp>
      <p:sp>
        <p:nvSpPr>
          <p:cNvPr id="82" name="foot">
            <a:extLst xmlns:a="http://schemas.openxmlformats.org/drawingml/2006/main">
              <a:ext uri="{FF2B5EF4-FFF2-40B4-BE49-F238E27FC236}">
                <a16:creationId xmlns:a16="http://schemas.microsoft.com/office/drawing/2014/main" id="{8FBF0D6C-943F-4426-8A1A-4B6EC547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0101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추가 관찰: ./build/token_probe "SELECT '한글';"에서 문자열의 바이트 길이는?</a:t>
            </a:r>
          </a:p>
        </p:txBody>
      </p:sp>
      <p:sp>
        <p:nvSpPr>
          <p:cNvPr id="83" name="footer">
            <a:extLst xmlns:a="http://schemas.openxmlformats.org/drawingml/2006/main">
              <a:ext uri="{FF2B5EF4-FFF2-40B4-BE49-F238E27FC236}">
                <a16:creationId xmlns:a16="http://schemas.microsoft.com/office/drawing/2014/main" id="{DD7C86B7-F666-4344-BC6D-85AF380B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소스코드 분석</a:t>
            </a:r>
          </a:p>
        </p:txBody>
      </p:sp>
      <p:sp>
        <p:nvSpPr>
          <p:cNvPr id="84" name="page">
            <a:extLst xmlns:a="http://schemas.openxmlformats.org/drawingml/2006/main">
              <a:ext uri="{FF2B5EF4-FFF2-40B4-BE49-F238E27FC236}">
                <a16:creationId xmlns:a16="http://schemas.microsoft.com/office/drawing/2014/main" id="{31C7B7C5-2F68-4B5F-8584-1B5C60A6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3405557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D5F4B81-4F9C-4F5D-9468-450028283F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9DA6290-7927-4937-BFBD-F6EF8B1C532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C32E0939-DD03-4D41-A763-90A5BDC5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별도 분석 과제 제출</a:t>
            </a:r>
          </a:p>
        </p:txBody>
      </p:sp>
      <p:sp>
        <p:nvSpPr>
          <p:cNvPr id="76" name="item-0-label">
            <a:extLst xmlns:a="http://schemas.openxmlformats.org/drawingml/2006/main">
              <a:ext uri="{FF2B5EF4-FFF2-40B4-BE49-F238E27FC236}">
                <a16:creationId xmlns:a16="http://schemas.microsoft.com/office/drawing/2014/main" id="{DEF869B5-4E69-4C97-AF84-04B40D39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495425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토큰과 문법</a:t>
            </a:r>
          </a:p>
        </p:txBody>
      </p:sp>
      <p:sp>
        <p:nvSpPr>
          <p:cNvPr id="77" name="item-0-body">
            <a:extLst xmlns:a="http://schemas.openxmlformats.org/drawingml/2006/main">
              <a:ext uri="{FF2B5EF4-FFF2-40B4-BE49-F238E27FC236}">
                <a16:creationId xmlns:a16="http://schemas.microsoft.com/office/drawing/2014/main" id="{2E49863F-79CB-421F-A06A-AB02F0FA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838325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?1을 인식하는 위치와 VARIABLE 규칙을 설명합니다.</a:t>
            </a:r>
          </a:p>
        </p:txBody>
      </p:sp>
      <p:sp>
        <p:nvSpPr>
          <p:cNvPr id="78" name="item-1-label">
            <a:extLst xmlns:a="http://schemas.openxmlformats.org/drawingml/2006/main">
              <a:ext uri="{FF2B5EF4-FFF2-40B4-BE49-F238E27FC236}">
                <a16:creationId xmlns:a16="http://schemas.microsoft.com/office/drawing/2014/main" id="{7C07B614-CF7D-421C-A6D1-6942ED89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5717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번호와 값</a:t>
            </a:r>
          </a:p>
        </p:txBody>
      </p:sp>
      <p:sp>
        <p:nvSpPr>
          <p:cNvPr id="79" name="item-1-body">
            <a:extLst xmlns:a="http://schemas.openxmlformats.org/drawingml/2006/main">
              <a:ext uri="{FF2B5EF4-FFF2-40B4-BE49-F238E27FC236}">
                <a16:creationId xmlns:a16="http://schemas.microsoft.com/office/drawing/2014/main" id="{73214160-F026-44E5-BE1D-B5F24E6A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914650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매개변수 번호 결정과 실제 값 저장 시점을 비교합니다.</a:t>
            </a:r>
          </a:p>
        </p:txBody>
      </p:sp>
      <p:sp>
        <p:nvSpPr>
          <p:cNvPr id="80" name="item-2-label">
            <a:extLst xmlns:a="http://schemas.openxmlformats.org/drawingml/2006/main">
              <a:ext uri="{FF2B5EF4-FFF2-40B4-BE49-F238E27FC236}">
                <a16:creationId xmlns:a16="http://schemas.microsoft.com/office/drawing/2014/main" id="{447D6153-6F63-447B-9217-3F8815F7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3648075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오류와 호출 경로</a:t>
            </a:r>
          </a:p>
        </p:txBody>
      </p:sp>
      <p:sp>
        <p:nvSpPr>
          <p:cNvPr id="81" name="item-2-body">
            <a:extLst xmlns:a="http://schemas.openxmlformats.org/drawingml/2006/main">
              <a:ext uri="{FF2B5EF4-FFF2-40B4-BE49-F238E27FC236}">
                <a16:creationId xmlns:a16="http://schemas.microsoft.com/office/drawing/2014/main" id="{C7A81451-F1E9-4B5D-B61C-29493DCB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3990975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7B3294"/>
                </a:solidFill>
                <a:latin typeface="Noto Sans CJK KR"/>
                <a:ea typeface="Noto Sans CJK KR"/>
                <a:cs typeface="Noto Sans CJK KR"/>
              </a:rPr>
              <a:t>문법·이름 해석 오류와 prepare 호출 경로를 기록합니다.</a:t>
            </a:r>
          </a:p>
        </p:txBody>
      </p:sp>
      <p:sp>
        <p:nvSpPr>
          <p:cNvPr id="82" name="foot">
            <a:extLst xmlns:a="http://schemas.openxmlformats.org/drawingml/2006/main">
              <a:ext uri="{FF2B5EF4-FFF2-40B4-BE49-F238E27FC236}">
                <a16:creationId xmlns:a16="http://schemas.microsoft.com/office/drawing/2014/main" id="{C7E97049-C6A1-4C87-A015-5BDAD434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0101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제출 파일: 학번_parser.md · 3-tier 실습과 별도 제출</a:t>
            </a:r>
          </a:p>
        </p:txBody>
      </p:sp>
      <p:sp>
        <p:nvSpPr>
          <p:cNvPr id="83" name="footer">
            <a:extLst xmlns:a="http://schemas.openxmlformats.org/drawingml/2006/main">
              <a:ext uri="{FF2B5EF4-FFF2-40B4-BE49-F238E27FC236}">
                <a16:creationId xmlns:a16="http://schemas.microsoft.com/office/drawing/2014/main" id="{D76FBB24-968A-4716-9C3F-AE933DF5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소스코드 분석</a:t>
            </a:r>
          </a:p>
        </p:txBody>
      </p:sp>
      <p:sp>
        <p:nvSpPr>
          <p:cNvPr id="84" name="page">
            <a:extLst xmlns:a="http://schemas.openxmlformats.org/drawingml/2006/main">
              <a:ext uri="{FF2B5EF4-FFF2-40B4-BE49-F238E27FC236}">
                <a16:creationId xmlns:a16="http://schemas.microsoft.com/office/drawing/2014/main" id="{8B13756F-2493-4234-BF64-D5858964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340555760"/>
      </p:ext>
    </p:extLst>
  </p:cSld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2026-09-17T09:26:11.6480000Z</dcterms:created>
  <dcterms:modified xsi:type="dcterms:W3CDTF">2026-09-17T09:26:11.6480000Z</dcterms:modified>
</coreProperties>
</file>